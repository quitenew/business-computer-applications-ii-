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8527-23D0-3CCA-32BC-BAD8E57C1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i="0" dirty="0">
                <a:solidFill>
                  <a:srgbClr val="1D2125"/>
                </a:solidFill>
                <a:effectLst/>
                <a:latin typeface="Roboto" panose="02000000000000000000" pitchFamily="2" charset="0"/>
              </a:rPr>
              <a:t>Business Analytics and Data Visualization</a:t>
            </a:r>
            <a:br>
              <a:rPr lang="en-US" b="1" i="0" dirty="0">
                <a:solidFill>
                  <a:srgbClr val="1D2125"/>
                </a:solidFill>
                <a:effectLst/>
                <a:latin typeface="Roboto" panose="02000000000000000000" pitchFamily="2" charset="0"/>
              </a:rPr>
            </a:b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F30D3-00C6-F60A-D779-8671F6C19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8843" y="5172575"/>
            <a:ext cx="3549180" cy="5630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By Konstantin </a:t>
            </a:r>
            <a:r>
              <a:rPr lang="en-US" dirty="0" err="1"/>
              <a:t>pandilovski</a:t>
            </a:r>
            <a:r>
              <a:rPr lang="en-US" dirty="0"/>
              <a:t> 6227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06781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9365-C9CE-A93C-A9A0-F8C48F6A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Q1: Specific Data Sources for the Project</a:t>
            </a:r>
            <a:br>
              <a:rPr lang="en-US" b="1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C6D4-A611-6B8B-8F4C-676B1D703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294"/>
            <a:ext cx="9905998" cy="432038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project will utilize the following data sources: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1. Customer Relationship Management (CRM) System: Provides customer data, including contact information, past purchases, and interactions.</a:t>
            </a:r>
          </a:p>
          <a:p>
            <a:pPr marL="0" indent="0">
              <a:buNone/>
            </a:pPr>
            <a:r>
              <a:rPr lang="en-US" dirty="0"/>
              <a:t>2. Marketing Automation Platform: Supplies data on campaigns, email engagement, lead scoring, and marketing ROI.</a:t>
            </a:r>
          </a:p>
          <a:p>
            <a:pPr marL="0" indent="0">
              <a:buNone/>
            </a:pPr>
            <a:r>
              <a:rPr lang="en-US" dirty="0"/>
              <a:t>3. Sales Data: Includes sales transactions, order history, revenue, and customer interactions.</a:t>
            </a:r>
          </a:p>
          <a:p>
            <a:pPr marL="0" indent="0">
              <a:buNone/>
            </a:pPr>
            <a:r>
              <a:rPr lang="en-US" dirty="0"/>
              <a:t>4. External Market Data: Captures market trends, competitor analysis, and economic indicators.</a:t>
            </a:r>
          </a:p>
          <a:p>
            <a:pPr marL="0" indent="0">
              <a:buNone/>
            </a:pPr>
            <a:r>
              <a:rPr lang="en-US" dirty="0"/>
              <a:t>5. Customer Feedback Surveys: Offers qualitative data on customer satisfaction and preferences.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97119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88A3-1E9C-21AA-0FBB-FAFC47B3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87CC-ECD7-6326-42B0-3389377F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Q2: Data Visualization Tools Considered</a:t>
            </a:r>
            <a:br>
              <a:rPr lang="en-US" b="1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6B1D4-D68C-68AD-B231-39509E3AF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294"/>
            <a:ext cx="9905998" cy="43203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 Tableau</a:t>
            </a:r>
          </a:p>
          <a:p>
            <a:pPr lvl="1"/>
            <a:r>
              <a:rPr lang="en-US" dirty="0"/>
              <a:t>Pros: Advanced visualizations, user-friendly interface, and strong integration capabilities.</a:t>
            </a:r>
          </a:p>
          <a:p>
            <a:pPr lvl="1"/>
            <a:r>
              <a:rPr lang="en-US" dirty="0"/>
              <a:t>Cons: Higher licensing costs and a steeper learning curve for advanced features.</a:t>
            </a:r>
          </a:p>
          <a:p>
            <a:pPr marL="0" indent="0">
              <a:buNone/>
            </a:pPr>
            <a:r>
              <a:rPr lang="en-US" dirty="0"/>
              <a:t>2. Power BI</a:t>
            </a:r>
          </a:p>
          <a:p>
            <a:pPr lvl="1"/>
            <a:r>
              <a:rPr lang="en-US" dirty="0"/>
              <a:t>Pros: Seamless integration with Microsoft products, affordable pricing, and robust dashboards.</a:t>
            </a:r>
          </a:p>
          <a:p>
            <a:pPr lvl="1"/>
            <a:r>
              <a:rPr lang="en-US" dirty="0"/>
              <a:t>Cons: Limited customization options compared to Tableau.</a:t>
            </a:r>
          </a:p>
          <a:p>
            <a:pPr marL="0" indent="0">
              <a:buNone/>
            </a:pPr>
            <a:r>
              <a:rPr lang="en-US" dirty="0"/>
              <a:t>3. QlikView</a:t>
            </a:r>
          </a:p>
          <a:p>
            <a:pPr lvl="1"/>
            <a:r>
              <a:rPr lang="en-US" dirty="0"/>
              <a:t>Pros: High-speed analytics and powerful associative data models.</a:t>
            </a:r>
          </a:p>
          <a:p>
            <a:pPr lvl="1"/>
            <a:r>
              <a:rPr lang="en-US" dirty="0"/>
              <a:t>Cons: Complex initial setup and less intuitive UI.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029986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AD2D-E1D7-4A6F-1010-62C395AF4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D2D8-B6B4-7E94-A3D7-C3D5DA5F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Q3: User Training Plan</a:t>
            </a:r>
            <a:br>
              <a:rPr lang="en-US" b="1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BFAA1-70DF-191D-D158-FAA19DFCA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294"/>
            <a:ext cx="9905998" cy="4320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Initial Training Sessions: Conduct hands-on workshops for sales teams and management.</a:t>
            </a:r>
          </a:p>
          <a:p>
            <a:pPr marL="0" indent="0">
              <a:buNone/>
            </a:pPr>
            <a:r>
              <a:rPr lang="en-US" dirty="0"/>
              <a:t>2. User Manuals and Video Tutorials: Provide easy-to-follow guides and instructional videos.</a:t>
            </a:r>
          </a:p>
          <a:p>
            <a:pPr marL="0" indent="0">
              <a:buNone/>
            </a:pPr>
            <a:r>
              <a:rPr lang="en-US" dirty="0"/>
              <a:t>3. Ongoing Support: Offer regular Q&amp;A sessions and on-demand support.</a:t>
            </a:r>
          </a:p>
          <a:p>
            <a:pPr marL="0" indent="0">
              <a:buNone/>
            </a:pPr>
            <a:r>
              <a:rPr lang="en-US" dirty="0"/>
              <a:t>4. Feedback Mechanism: Gather user feedback and refine training materials.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93115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FE431-0356-BC0F-143B-D81E0FD7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0CC5-098E-71DD-BCA7-78CC13B2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Q4: Timeline for Implementation</a:t>
            </a:r>
            <a:br>
              <a:rPr lang="en-US" b="1" dirty="0"/>
            </a:br>
            <a:endParaRPr lang="en-1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FFD79-59B5-92E4-7083-79F108E5C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3" y="1756333"/>
            <a:ext cx="4878389" cy="3541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Phase 1: Data Integration and Dashboard Development (3-6 months)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source identification and assessment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integration and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Selection of data warehousing 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design and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training</a:t>
            </a:r>
          </a:p>
          <a:p>
            <a:endParaRPr lang="en-15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3FCB0E-4015-887A-54E1-5952389DC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399" y="1756333"/>
            <a:ext cx="4875211" cy="3541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Phase 2: Advanced Analytics (3-6 months after Phase 1 completion)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predictive models for lead scoring and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personalized recommendations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73313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2E390-0639-9075-C84E-C0D7BA72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DB46-09A1-0AAD-CEF4-6DAC89EF6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Q5: Measuring Project Success</a:t>
            </a:r>
            <a:br>
              <a:rPr lang="en-US" b="1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64F07-AB5B-1F09-D61D-1E7C72019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294"/>
            <a:ext cx="9905998" cy="4320387"/>
          </a:xfrm>
        </p:spPr>
        <p:txBody>
          <a:bodyPr>
            <a:normAutofit/>
          </a:bodyPr>
          <a:lstStyle/>
          <a:p>
            <a:r>
              <a:rPr lang="en-US" dirty="0"/>
              <a:t>Success will be measured using the following KPIs:</a:t>
            </a:r>
          </a:p>
          <a:p>
            <a:pPr marL="0" indent="0">
              <a:buNone/>
            </a:pPr>
            <a:r>
              <a:rPr lang="en-US" dirty="0"/>
              <a:t>1. Sales Revenue Increase: Percentage growth in revenue post-implementation.</a:t>
            </a:r>
          </a:p>
          <a:p>
            <a:pPr marL="0" indent="0">
              <a:buNone/>
            </a:pPr>
            <a:r>
              <a:rPr lang="en-US" dirty="0"/>
              <a:t>2. Lead Conversion Rate: Improvement in the number of leads converted into sales.</a:t>
            </a:r>
          </a:p>
          <a:p>
            <a:pPr marL="0" indent="0">
              <a:buNone/>
            </a:pPr>
            <a:r>
              <a:rPr lang="en-US" dirty="0"/>
              <a:t>3. Reporting Efficiency: Reduction in the time taken to generate reports.</a:t>
            </a:r>
          </a:p>
          <a:p>
            <a:pPr marL="0" indent="0">
              <a:buNone/>
            </a:pPr>
            <a:r>
              <a:rPr lang="en-US" dirty="0"/>
              <a:t>4. Customer Satisfaction: Higher scores from customer feedback surveys.</a:t>
            </a:r>
          </a:p>
          <a:p>
            <a:pPr marL="0" indent="0">
              <a:buNone/>
            </a:pPr>
            <a:r>
              <a:rPr lang="en-US" dirty="0"/>
              <a:t>5. Forecast Accuracy: Improvement in sales forecast precision.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52894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1EBF3-8D35-1DF9-1F2E-5CDDB57E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0BA7-0695-E96B-300C-94E290B4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Q6: Handling Budget Overruns and Delays</a:t>
            </a:r>
            <a:br>
              <a:rPr lang="da-DK" b="1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52E2-2CBF-F57F-1DA7-0B5FB3B4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294"/>
            <a:ext cx="9905998" cy="4320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Regular Progress Monitoring: Weekly updates to track milestones and expenses.</a:t>
            </a:r>
          </a:p>
          <a:p>
            <a:pPr marL="0" indent="0">
              <a:buNone/>
            </a:pPr>
            <a:r>
              <a:rPr lang="en-US" dirty="0"/>
              <a:t>2. Contingency Budget: Allocate an extra 10-15% for unforeseen expenses.</a:t>
            </a:r>
          </a:p>
          <a:p>
            <a:pPr marL="0" indent="0">
              <a:buNone/>
            </a:pPr>
            <a:r>
              <a:rPr lang="en-US" dirty="0"/>
              <a:t>3. Phased Rollout: Prioritize critical features to ensure core functionalities are delivered on time.</a:t>
            </a:r>
          </a:p>
          <a:p>
            <a:pPr marL="0" indent="0">
              <a:buNone/>
            </a:pPr>
            <a:r>
              <a:rPr lang="en-US" dirty="0"/>
              <a:t>4. Vendor Penalty Clauses: Contracts with clear timelines and penalties for delays.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36007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67E0-D74C-CF35-464B-69FD0CC8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5E60-79A1-00BB-628B-79882766D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Q7: Long-Term Plan for BA/DV Solution</a:t>
            </a:r>
            <a:br>
              <a:rPr lang="en-US" b="1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4CB8A-77BD-D8C3-B37D-43A60D505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294"/>
            <a:ext cx="9905998" cy="4320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Continuous Monitoring: Regular updates and performance reviews.</a:t>
            </a:r>
          </a:p>
          <a:p>
            <a:pPr marL="0" indent="0">
              <a:buNone/>
            </a:pPr>
            <a:r>
              <a:rPr lang="en-US" dirty="0"/>
              <a:t>2. Scalability Plan: Ensure infrastructure can handle increased data volume.</a:t>
            </a:r>
          </a:p>
          <a:p>
            <a:pPr marL="0" indent="0">
              <a:buNone/>
            </a:pPr>
            <a:r>
              <a:rPr lang="en-US" dirty="0"/>
              <a:t>3. Advanced Analytics Expansion: Incorporate machine learning and AI-based insights.</a:t>
            </a:r>
          </a:p>
          <a:p>
            <a:pPr marL="0" indent="0">
              <a:buNone/>
            </a:pPr>
            <a:r>
              <a:rPr lang="en-US" dirty="0"/>
              <a:t>4. User Training Updates: Regular refresher courses and new feature rollouts.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092140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C53F7-495D-E03B-BC26-29F0D967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3C22-96EE-FADE-385F-7F63BC82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Q8: Ensuring Data Security and Privacy</a:t>
            </a:r>
            <a:br>
              <a:rPr lang="en-US" b="1" dirty="0"/>
            </a:b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A2BB4-86E5-317F-4A06-BB340097A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1294"/>
            <a:ext cx="9905998" cy="4320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Data Encryption: Encrypt sensitive data both in transit and at rest.</a:t>
            </a:r>
          </a:p>
          <a:p>
            <a:pPr marL="0" indent="0">
              <a:buNone/>
            </a:pPr>
            <a:r>
              <a:rPr lang="en-US" dirty="0"/>
              <a:t>2. Access Controls: Implement role-based access to limit data exposure.</a:t>
            </a:r>
          </a:p>
          <a:p>
            <a:pPr marL="0" indent="0">
              <a:buNone/>
            </a:pPr>
            <a:r>
              <a:rPr lang="en-US" dirty="0"/>
              <a:t>3. Compliance with Regulations: Ensure adherence to GDPR, CCPA, and other relevant standards.</a:t>
            </a:r>
          </a:p>
          <a:p>
            <a:pPr marL="0" indent="0">
              <a:buNone/>
            </a:pPr>
            <a:r>
              <a:rPr lang="en-US" dirty="0"/>
              <a:t>4. Regular Security Audits: Conduct periodic security assessments.</a:t>
            </a:r>
          </a:p>
          <a:p>
            <a:pPr marL="0" indent="0">
              <a:buNone/>
            </a:pPr>
            <a:r>
              <a:rPr lang="en-US" dirty="0"/>
              <a:t>5. Employee Training: Regular cybersecurity awareness programs.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9581466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</TotalTime>
  <Words>622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Roboto</vt:lpstr>
      <vt:lpstr>Tw Cen MT</vt:lpstr>
      <vt:lpstr>Circuit</vt:lpstr>
      <vt:lpstr>Business Analytics and Data Visualization </vt:lpstr>
      <vt:lpstr>Q1: Specific Data Sources for the Project </vt:lpstr>
      <vt:lpstr>Q2: Data Visualization Tools Considered </vt:lpstr>
      <vt:lpstr>Q3: User Training Plan </vt:lpstr>
      <vt:lpstr>Q4: Timeline for Implementation </vt:lpstr>
      <vt:lpstr>Q5: Measuring Project Success </vt:lpstr>
      <vt:lpstr>Q6: Handling Budget Overruns and Delays </vt:lpstr>
      <vt:lpstr>Q7: Long-Term Plan for BA/DV Solution </vt:lpstr>
      <vt:lpstr>Q8: Ensuring Data Security and Privacy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Atanas</dc:creator>
  <cp:lastModifiedBy>Nikola Atanas</cp:lastModifiedBy>
  <cp:revision>1</cp:revision>
  <dcterms:created xsi:type="dcterms:W3CDTF">2025-02-22T17:07:44Z</dcterms:created>
  <dcterms:modified xsi:type="dcterms:W3CDTF">2025-02-22T17:22:48Z</dcterms:modified>
</cp:coreProperties>
</file>