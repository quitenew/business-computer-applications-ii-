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5" r:id="rId8"/>
    <p:sldId id="266" r:id="rId9"/>
    <p:sldId id="267" r:id="rId10"/>
    <p:sldId id="268" r:id="rId11"/>
    <p:sldId id="269" r:id="rId12"/>
    <p:sldId id="262" r:id="rId13"/>
    <p:sldId id="263" r:id="rId14"/>
    <p:sldId id="26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howGuides="1">
      <p:cViewPr varScale="1">
        <p:scale>
          <a:sx n="100" d="100"/>
          <a:sy n="100" d="100"/>
        </p:scale>
        <p:origin x="96" y="18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ata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15.svg"/></Relationships>
</file>

<file path=ppt/diagrams/_rels/drawing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B572C7B-8939-4DE7-AB2F-52E18F72EABA}" type="doc">
      <dgm:prSet loTypeId="urn:microsoft.com/office/officeart/2016/7/layout/HorizontalActionList" loCatId="List" qsTypeId="urn:microsoft.com/office/officeart/2005/8/quickstyle/simple1" qsCatId="simple" csTypeId="urn:microsoft.com/office/officeart/2005/8/colors/colorful2" csCatId="colorful"/>
      <dgm:spPr/>
      <dgm:t>
        <a:bodyPr/>
        <a:lstStyle/>
        <a:p>
          <a:endParaRPr lang="en-US"/>
        </a:p>
      </dgm:t>
    </dgm:pt>
    <dgm:pt modelId="{B10663F9-5A2E-4BF9-9AFF-57082A549327}">
      <dgm:prSet/>
      <dgm:spPr/>
      <dgm:t>
        <a:bodyPr/>
        <a:lstStyle/>
        <a:p>
          <a:r>
            <a:rPr lang="en-US"/>
            <a:t>Enhancing</a:t>
          </a:r>
        </a:p>
      </dgm:t>
    </dgm:pt>
    <dgm:pt modelId="{1F90947C-D0CD-4511-AB92-7770409D1714}" type="parTrans" cxnId="{93B59325-1A24-466A-B762-773E64A4DE4A}">
      <dgm:prSet/>
      <dgm:spPr/>
      <dgm:t>
        <a:bodyPr/>
        <a:lstStyle/>
        <a:p>
          <a:endParaRPr lang="en-US"/>
        </a:p>
      </dgm:t>
    </dgm:pt>
    <dgm:pt modelId="{5310CAE3-45E7-42DB-A127-D28EDD634C5E}" type="sibTrans" cxnId="{93B59325-1A24-466A-B762-773E64A4DE4A}">
      <dgm:prSet/>
      <dgm:spPr/>
      <dgm:t>
        <a:bodyPr/>
        <a:lstStyle/>
        <a:p>
          <a:endParaRPr lang="en-US"/>
        </a:p>
      </dgm:t>
    </dgm:pt>
    <dgm:pt modelId="{2A3BE033-4216-409A-AA6F-A2310B079899}">
      <dgm:prSet/>
      <dgm:spPr/>
      <dgm:t>
        <a:bodyPr/>
        <a:lstStyle/>
        <a:p>
          <a:r>
            <a:rPr lang="en-US"/>
            <a:t>Enhancing Collaboration: </a:t>
          </a:r>
        </a:p>
      </dgm:t>
    </dgm:pt>
    <dgm:pt modelId="{0F32494A-B0DF-4608-BAF6-A0ED7CF3A5F6}" type="parTrans" cxnId="{F3A65EE6-5BE0-47E7-AFFE-AE008EB8DA82}">
      <dgm:prSet/>
      <dgm:spPr/>
      <dgm:t>
        <a:bodyPr/>
        <a:lstStyle/>
        <a:p>
          <a:endParaRPr lang="en-US"/>
        </a:p>
      </dgm:t>
    </dgm:pt>
    <dgm:pt modelId="{68B07C54-4321-4721-86BD-4DF1F342A1C3}" type="sibTrans" cxnId="{F3A65EE6-5BE0-47E7-AFFE-AE008EB8DA82}">
      <dgm:prSet/>
      <dgm:spPr/>
      <dgm:t>
        <a:bodyPr/>
        <a:lstStyle/>
        <a:p>
          <a:endParaRPr lang="en-US"/>
        </a:p>
      </dgm:t>
    </dgm:pt>
    <dgm:pt modelId="{2D033D22-4DF8-4617-9590-078C6389D673}">
      <dgm:prSet/>
      <dgm:spPr/>
      <dgm:t>
        <a:bodyPr/>
        <a:lstStyle/>
        <a:p>
          <a:r>
            <a:rPr lang="en-US"/>
            <a:t>Real-time teamwork regardless of location.</a:t>
          </a:r>
        </a:p>
      </dgm:t>
    </dgm:pt>
    <dgm:pt modelId="{510FF4C0-4E58-44F3-AD8E-AEA03BB701BD}" type="parTrans" cxnId="{EA63127D-55FB-49BC-B8AB-BAA4E8A76CE9}">
      <dgm:prSet/>
      <dgm:spPr/>
      <dgm:t>
        <a:bodyPr/>
        <a:lstStyle/>
        <a:p>
          <a:endParaRPr lang="en-US"/>
        </a:p>
      </dgm:t>
    </dgm:pt>
    <dgm:pt modelId="{0DD70CB2-CF9D-45F9-93D5-0C8CEB97792B}" type="sibTrans" cxnId="{EA63127D-55FB-49BC-B8AB-BAA4E8A76CE9}">
      <dgm:prSet/>
      <dgm:spPr/>
      <dgm:t>
        <a:bodyPr/>
        <a:lstStyle/>
        <a:p>
          <a:endParaRPr lang="en-US"/>
        </a:p>
      </dgm:t>
    </dgm:pt>
    <dgm:pt modelId="{9F7DD52A-6382-4511-B556-C021A0B2965E}">
      <dgm:prSet/>
      <dgm:spPr/>
      <dgm:t>
        <a:bodyPr/>
        <a:lstStyle/>
        <a:p>
          <a:r>
            <a:rPr lang="en-US"/>
            <a:t>Increasing</a:t>
          </a:r>
        </a:p>
      </dgm:t>
    </dgm:pt>
    <dgm:pt modelId="{B8D721AF-8A83-4F70-B5EF-605A2CBAC435}" type="parTrans" cxnId="{1C268975-BA19-46D1-93C7-31C51D417114}">
      <dgm:prSet/>
      <dgm:spPr/>
      <dgm:t>
        <a:bodyPr/>
        <a:lstStyle/>
        <a:p>
          <a:endParaRPr lang="en-US"/>
        </a:p>
      </dgm:t>
    </dgm:pt>
    <dgm:pt modelId="{B186325D-E74B-4D76-AFBB-C90867FBFCD8}" type="sibTrans" cxnId="{1C268975-BA19-46D1-93C7-31C51D417114}">
      <dgm:prSet/>
      <dgm:spPr/>
      <dgm:t>
        <a:bodyPr/>
        <a:lstStyle/>
        <a:p>
          <a:endParaRPr lang="en-US"/>
        </a:p>
      </dgm:t>
    </dgm:pt>
    <dgm:pt modelId="{7DECB392-23BA-42F6-A324-08CC18F4839E}">
      <dgm:prSet/>
      <dgm:spPr/>
      <dgm:t>
        <a:bodyPr/>
        <a:lstStyle/>
        <a:p>
          <a:r>
            <a:rPr lang="en-US"/>
            <a:t>Increasing Efficiency: </a:t>
          </a:r>
        </a:p>
      </dgm:t>
    </dgm:pt>
    <dgm:pt modelId="{120CCDD4-5EE9-4F8F-A069-5EA556DB5429}" type="parTrans" cxnId="{F13AC5B3-041D-4AEC-9068-CF2696CD9E2C}">
      <dgm:prSet/>
      <dgm:spPr/>
      <dgm:t>
        <a:bodyPr/>
        <a:lstStyle/>
        <a:p>
          <a:endParaRPr lang="en-US"/>
        </a:p>
      </dgm:t>
    </dgm:pt>
    <dgm:pt modelId="{554C3448-5352-4469-8ECE-B5D77E06748C}" type="sibTrans" cxnId="{F13AC5B3-041D-4AEC-9068-CF2696CD9E2C}">
      <dgm:prSet/>
      <dgm:spPr/>
      <dgm:t>
        <a:bodyPr/>
        <a:lstStyle/>
        <a:p>
          <a:endParaRPr lang="en-US"/>
        </a:p>
      </dgm:t>
    </dgm:pt>
    <dgm:pt modelId="{7C46F770-8C40-46B0-9424-CF919CBC4F8B}">
      <dgm:prSet/>
      <dgm:spPr/>
      <dgm:t>
        <a:bodyPr/>
        <a:lstStyle/>
        <a:p>
          <a:r>
            <a:rPr lang="en-US"/>
            <a:t>Streamlined workflows and reduced time on tasks.</a:t>
          </a:r>
        </a:p>
      </dgm:t>
    </dgm:pt>
    <dgm:pt modelId="{0D8BAC57-2AD8-4D6B-9129-4B96098BBA45}" type="parTrans" cxnId="{794EB486-5E5B-4A1E-BCBB-36529B97995D}">
      <dgm:prSet/>
      <dgm:spPr/>
      <dgm:t>
        <a:bodyPr/>
        <a:lstStyle/>
        <a:p>
          <a:endParaRPr lang="en-US"/>
        </a:p>
      </dgm:t>
    </dgm:pt>
    <dgm:pt modelId="{8214B24A-67FF-4097-B948-AFD936D7B175}" type="sibTrans" cxnId="{794EB486-5E5B-4A1E-BCBB-36529B97995D}">
      <dgm:prSet/>
      <dgm:spPr/>
      <dgm:t>
        <a:bodyPr/>
        <a:lstStyle/>
        <a:p>
          <a:endParaRPr lang="en-US"/>
        </a:p>
      </dgm:t>
    </dgm:pt>
    <dgm:pt modelId="{6F3606C4-3E9C-4D04-8B49-5B72CCE6BA39}">
      <dgm:prSet/>
      <dgm:spPr/>
      <dgm:t>
        <a:bodyPr/>
        <a:lstStyle/>
        <a:p>
          <a:r>
            <a:rPr lang="en-US"/>
            <a:t>Improving</a:t>
          </a:r>
        </a:p>
      </dgm:t>
    </dgm:pt>
    <dgm:pt modelId="{A0DE813F-A8BD-4A78-ABE4-4FD25D41E11F}" type="parTrans" cxnId="{1E2C430C-9F30-45F0-B2C8-96467227ED93}">
      <dgm:prSet/>
      <dgm:spPr/>
      <dgm:t>
        <a:bodyPr/>
        <a:lstStyle/>
        <a:p>
          <a:endParaRPr lang="en-US"/>
        </a:p>
      </dgm:t>
    </dgm:pt>
    <dgm:pt modelId="{75EBF56C-4BFC-48C9-B822-9F0742A13BED}" type="sibTrans" cxnId="{1E2C430C-9F30-45F0-B2C8-96467227ED93}">
      <dgm:prSet/>
      <dgm:spPr/>
      <dgm:t>
        <a:bodyPr/>
        <a:lstStyle/>
        <a:p>
          <a:endParaRPr lang="en-US"/>
        </a:p>
      </dgm:t>
    </dgm:pt>
    <dgm:pt modelId="{102D0914-3AD7-4AC7-843F-827BA72EA01B}">
      <dgm:prSet/>
      <dgm:spPr/>
      <dgm:t>
        <a:bodyPr/>
        <a:lstStyle/>
        <a:p>
          <a:r>
            <a:rPr lang="en-US"/>
            <a:t>Improving Employee Engagement: </a:t>
          </a:r>
        </a:p>
      </dgm:t>
    </dgm:pt>
    <dgm:pt modelId="{FD6452B4-A9DB-483D-A0C9-3D3D13E22353}" type="parTrans" cxnId="{1D5547A0-F0ED-4F3D-B752-E2C7517DA125}">
      <dgm:prSet/>
      <dgm:spPr/>
      <dgm:t>
        <a:bodyPr/>
        <a:lstStyle/>
        <a:p>
          <a:endParaRPr lang="en-US"/>
        </a:p>
      </dgm:t>
    </dgm:pt>
    <dgm:pt modelId="{2CD3F8B9-B7A7-454B-B668-0BC4D6FAFF96}" type="sibTrans" cxnId="{1D5547A0-F0ED-4F3D-B752-E2C7517DA125}">
      <dgm:prSet/>
      <dgm:spPr/>
      <dgm:t>
        <a:bodyPr/>
        <a:lstStyle/>
        <a:p>
          <a:endParaRPr lang="en-US"/>
        </a:p>
      </dgm:t>
    </dgm:pt>
    <dgm:pt modelId="{A508A299-71A7-4743-A768-B321776D35B8}">
      <dgm:prSet/>
      <dgm:spPr/>
      <dgm:t>
        <a:bodyPr/>
        <a:lstStyle/>
        <a:p>
          <a:r>
            <a:rPr lang="en-US"/>
            <a:t>Fostering a sense of community.</a:t>
          </a:r>
        </a:p>
      </dgm:t>
    </dgm:pt>
    <dgm:pt modelId="{833F02FD-BFDA-48EB-B58E-BAD65D188BF3}" type="parTrans" cxnId="{C1A8A3B8-E226-4FA9-ACA3-324A821D3409}">
      <dgm:prSet/>
      <dgm:spPr/>
      <dgm:t>
        <a:bodyPr/>
        <a:lstStyle/>
        <a:p>
          <a:endParaRPr lang="en-US"/>
        </a:p>
      </dgm:t>
    </dgm:pt>
    <dgm:pt modelId="{2EB8F9AD-250C-4986-9607-B5354A752CF3}" type="sibTrans" cxnId="{C1A8A3B8-E226-4FA9-ACA3-324A821D3409}">
      <dgm:prSet/>
      <dgm:spPr/>
      <dgm:t>
        <a:bodyPr/>
        <a:lstStyle/>
        <a:p>
          <a:endParaRPr lang="en-US"/>
        </a:p>
      </dgm:t>
    </dgm:pt>
    <dgm:pt modelId="{01028E6C-0534-43C8-B791-87E0F4BB1608}" type="pres">
      <dgm:prSet presAssocID="{EB572C7B-8939-4DE7-AB2F-52E18F72EABA}" presName="Name0" presStyleCnt="0">
        <dgm:presLayoutVars>
          <dgm:dir/>
          <dgm:animLvl val="lvl"/>
          <dgm:resizeHandles val="exact"/>
        </dgm:presLayoutVars>
      </dgm:prSet>
      <dgm:spPr/>
    </dgm:pt>
    <dgm:pt modelId="{5FEB6372-B426-45CA-AB3C-1F9C0BB87B67}" type="pres">
      <dgm:prSet presAssocID="{B10663F9-5A2E-4BF9-9AFF-57082A549327}" presName="composite" presStyleCnt="0"/>
      <dgm:spPr/>
    </dgm:pt>
    <dgm:pt modelId="{4A8AEC65-3084-401B-95F2-C51DC5B1093D}" type="pres">
      <dgm:prSet presAssocID="{B10663F9-5A2E-4BF9-9AFF-57082A549327}" presName="parTx" presStyleLbl="alignNode1" presStyleIdx="0" presStyleCnt="3">
        <dgm:presLayoutVars>
          <dgm:chMax val="0"/>
          <dgm:chPref val="0"/>
        </dgm:presLayoutVars>
      </dgm:prSet>
      <dgm:spPr/>
    </dgm:pt>
    <dgm:pt modelId="{9EF375BC-16C2-41E0-B2C4-88D69B71C3BC}" type="pres">
      <dgm:prSet presAssocID="{B10663F9-5A2E-4BF9-9AFF-57082A549327}" presName="desTx" presStyleLbl="alignAccFollowNode1" presStyleIdx="0" presStyleCnt="3">
        <dgm:presLayoutVars/>
      </dgm:prSet>
      <dgm:spPr/>
    </dgm:pt>
    <dgm:pt modelId="{581ECF3F-FDE1-4B47-895E-31D0C3F77E28}" type="pres">
      <dgm:prSet presAssocID="{5310CAE3-45E7-42DB-A127-D28EDD634C5E}" presName="space" presStyleCnt="0"/>
      <dgm:spPr/>
    </dgm:pt>
    <dgm:pt modelId="{9F24DEB2-F167-4F2F-B42A-C31DC0B041CC}" type="pres">
      <dgm:prSet presAssocID="{9F7DD52A-6382-4511-B556-C021A0B2965E}" presName="composite" presStyleCnt="0"/>
      <dgm:spPr/>
    </dgm:pt>
    <dgm:pt modelId="{725167C3-D77E-4B11-B311-6489D33A5DB9}" type="pres">
      <dgm:prSet presAssocID="{9F7DD52A-6382-4511-B556-C021A0B2965E}" presName="parTx" presStyleLbl="alignNode1" presStyleIdx="1" presStyleCnt="3">
        <dgm:presLayoutVars>
          <dgm:chMax val="0"/>
          <dgm:chPref val="0"/>
        </dgm:presLayoutVars>
      </dgm:prSet>
      <dgm:spPr/>
    </dgm:pt>
    <dgm:pt modelId="{77D548A5-EF80-47F6-8CEB-D544AE056B6B}" type="pres">
      <dgm:prSet presAssocID="{9F7DD52A-6382-4511-B556-C021A0B2965E}" presName="desTx" presStyleLbl="alignAccFollowNode1" presStyleIdx="1" presStyleCnt="3">
        <dgm:presLayoutVars/>
      </dgm:prSet>
      <dgm:spPr/>
    </dgm:pt>
    <dgm:pt modelId="{22167E71-A414-4168-B796-ECB0774F8B1D}" type="pres">
      <dgm:prSet presAssocID="{B186325D-E74B-4D76-AFBB-C90867FBFCD8}" presName="space" presStyleCnt="0"/>
      <dgm:spPr/>
    </dgm:pt>
    <dgm:pt modelId="{3C2A369C-47DB-41D9-A505-2D5949B18019}" type="pres">
      <dgm:prSet presAssocID="{6F3606C4-3E9C-4D04-8B49-5B72CCE6BA39}" presName="composite" presStyleCnt="0"/>
      <dgm:spPr/>
    </dgm:pt>
    <dgm:pt modelId="{C19C4125-CA4E-4A92-BC6B-310187999193}" type="pres">
      <dgm:prSet presAssocID="{6F3606C4-3E9C-4D04-8B49-5B72CCE6BA39}" presName="parTx" presStyleLbl="alignNode1" presStyleIdx="2" presStyleCnt="3">
        <dgm:presLayoutVars>
          <dgm:chMax val="0"/>
          <dgm:chPref val="0"/>
        </dgm:presLayoutVars>
      </dgm:prSet>
      <dgm:spPr/>
    </dgm:pt>
    <dgm:pt modelId="{B755D8F0-7779-427D-B902-72696E3F207E}" type="pres">
      <dgm:prSet presAssocID="{6F3606C4-3E9C-4D04-8B49-5B72CCE6BA39}" presName="desTx" presStyleLbl="alignAccFollowNode1" presStyleIdx="2" presStyleCnt="3">
        <dgm:presLayoutVars/>
      </dgm:prSet>
      <dgm:spPr/>
    </dgm:pt>
  </dgm:ptLst>
  <dgm:cxnLst>
    <dgm:cxn modelId="{10C69505-4CF2-4172-9E90-A8A51EC9F94F}" type="presOf" srcId="{102D0914-3AD7-4AC7-843F-827BA72EA01B}" destId="{B755D8F0-7779-427D-B902-72696E3F207E}" srcOrd="0" destOrd="0" presId="urn:microsoft.com/office/officeart/2016/7/layout/HorizontalActionList"/>
    <dgm:cxn modelId="{1E2C430C-9F30-45F0-B2C8-96467227ED93}" srcId="{EB572C7B-8939-4DE7-AB2F-52E18F72EABA}" destId="{6F3606C4-3E9C-4D04-8B49-5B72CCE6BA39}" srcOrd="2" destOrd="0" parTransId="{A0DE813F-A8BD-4A78-ABE4-4FD25D41E11F}" sibTransId="{75EBF56C-4BFC-48C9-B822-9F0742A13BED}"/>
    <dgm:cxn modelId="{DCE1700D-0455-4EA6-A237-E899E3CF0CB3}" type="presOf" srcId="{2A3BE033-4216-409A-AA6F-A2310B079899}" destId="{9EF375BC-16C2-41E0-B2C4-88D69B71C3BC}" srcOrd="0" destOrd="0" presId="urn:microsoft.com/office/officeart/2016/7/layout/HorizontalActionList"/>
    <dgm:cxn modelId="{93B59325-1A24-466A-B762-773E64A4DE4A}" srcId="{EB572C7B-8939-4DE7-AB2F-52E18F72EABA}" destId="{B10663F9-5A2E-4BF9-9AFF-57082A549327}" srcOrd="0" destOrd="0" parTransId="{1F90947C-D0CD-4511-AB92-7770409D1714}" sibTransId="{5310CAE3-45E7-42DB-A127-D28EDD634C5E}"/>
    <dgm:cxn modelId="{08DFE72B-21AA-4E4C-81FE-0FA175057E68}" type="presOf" srcId="{7C46F770-8C40-46B0-9424-CF919CBC4F8B}" destId="{77D548A5-EF80-47F6-8CEB-D544AE056B6B}" srcOrd="0" destOrd="1" presId="urn:microsoft.com/office/officeart/2016/7/layout/HorizontalActionList"/>
    <dgm:cxn modelId="{41946A44-90DE-4A9A-83E8-E301CB52EDBC}" type="presOf" srcId="{2D033D22-4DF8-4617-9590-078C6389D673}" destId="{9EF375BC-16C2-41E0-B2C4-88D69B71C3BC}" srcOrd="0" destOrd="1" presId="urn:microsoft.com/office/officeart/2016/7/layout/HorizontalActionList"/>
    <dgm:cxn modelId="{1C268975-BA19-46D1-93C7-31C51D417114}" srcId="{EB572C7B-8939-4DE7-AB2F-52E18F72EABA}" destId="{9F7DD52A-6382-4511-B556-C021A0B2965E}" srcOrd="1" destOrd="0" parTransId="{B8D721AF-8A83-4F70-B5EF-605A2CBAC435}" sibTransId="{B186325D-E74B-4D76-AFBB-C90867FBFCD8}"/>
    <dgm:cxn modelId="{EA63127D-55FB-49BC-B8AB-BAA4E8A76CE9}" srcId="{2A3BE033-4216-409A-AA6F-A2310B079899}" destId="{2D033D22-4DF8-4617-9590-078C6389D673}" srcOrd="0" destOrd="0" parTransId="{510FF4C0-4E58-44F3-AD8E-AEA03BB701BD}" sibTransId="{0DD70CB2-CF9D-45F9-93D5-0C8CEB97792B}"/>
    <dgm:cxn modelId="{794EB486-5E5B-4A1E-BCBB-36529B97995D}" srcId="{7DECB392-23BA-42F6-A324-08CC18F4839E}" destId="{7C46F770-8C40-46B0-9424-CF919CBC4F8B}" srcOrd="0" destOrd="0" parTransId="{0D8BAC57-2AD8-4D6B-9129-4B96098BBA45}" sibTransId="{8214B24A-67FF-4097-B948-AFD936D7B175}"/>
    <dgm:cxn modelId="{B29DD288-57B2-4A9F-946A-6FC505311300}" type="presOf" srcId="{B10663F9-5A2E-4BF9-9AFF-57082A549327}" destId="{4A8AEC65-3084-401B-95F2-C51DC5B1093D}" srcOrd="0" destOrd="0" presId="urn:microsoft.com/office/officeart/2016/7/layout/HorizontalActionList"/>
    <dgm:cxn modelId="{1D5547A0-F0ED-4F3D-B752-E2C7517DA125}" srcId="{6F3606C4-3E9C-4D04-8B49-5B72CCE6BA39}" destId="{102D0914-3AD7-4AC7-843F-827BA72EA01B}" srcOrd="0" destOrd="0" parTransId="{FD6452B4-A9DB-483D-A0C9-3D3D13E22353}" sibTransId="{2CD3F8B9-B7A7-454B-B668-0BC4D6FAFF96}"/>
    <dgm:cxn modelId="{F13AC5B3-041D-4AEC-9068-CF2696CD9E2C}" srcId="{9F7DD52A-6382-4511-B556-C021A0B2965E}" destId="{7DECB392-23BA-42F6-A324-08CC18F4839E}" srcOrd="0" destOrd="0" parTransId="{120CCDD4-5EE9-4F8F-A069-5EA556DB5429}" sibTransId="{554C3448-5352-4469-8ECE-B5D77E06748C}"/>
    <dgm:cxn modelId="{C1A8A3B8-E226-4FA9-ACA3-324A821D3409}" srcId="{102D0914-3AD7-4AC7-843F-827BA72EA01B}" destId="{A508A299-71A7-4743-A768-B321776D35B8}" srcOrd="0" destOrd="0" parTransId="{833F02FD-BFDA-48EB-B58E-BAD65D188BF3}" sibTransId="{2EB8F9AD-250C-4986-9607-B5354A752CF3}"/>
    <dgm:cxn modelId="{704BAACE-0C62-4A80-8D35-8EAB68AEFC80}" type="presOf" srcId="{EB572C7B-8939-4DE7-AB2F-52E18F72EABA}" destId="{01028E6C-0534-43C8-B791-87E0F4BB1608}" srcOrd="0" destOrd="0" presId="urn:microsoft.com/office/officeart/2016/7/layout/HorizontalActionList"/>
    <dgm:cxn modelId="{69293AD9-CD40-4CC5-AB3E-A876EF415333}" type="presOf" srcId="{A508A299-71A7-4743-A768-B321776D35B8}" destId="{B755D8F0-7779-427D-B902-72696E3F207E}" srcOrd="0" destOrd="1" presId="urn:microsoft.com/office/officeart/2016/7/layout/HorizontalActionList"/>
    <dgm:cxn modelId="{F3A65EE6-5BE0-47E7-AFFE-AE008EB8DA82}" srcId="{B10663F9-5A2E-4BF9-9AFF-57082A549327}" destId="{2A3BE033-4216-409A-AA6F-A2310B079899}" srcOrd="0" destOrd="0" parTransId="{0F32494A-B0DF-4608-BAF6-A0ED7CF3A5F6}" sibTransId="{68B07C54-4321-4721-86BD-4DF1F342A1C3}"/>
    <dgm:cxn modelId="{8AD3E1E7-B804-4385-8D13-ACB78415C2E1}" type="presOf" srcId="{7DECB392-23BA-42F6-A324-08CC18F4839E}" destId="{77D548A5-EF80-47F6-8CEB-D544AE056B6B}" srcOrd="0" destOrd="0" presId="urn:microsoft.com/office/officeart/2016/7/layout/HorizontalActionList"/>
    <dgm:cxn modelId="{3B0330EE-F6C7-4BCA-8FC4-41499E04F350}" type="presOf" srcId="{9F7DD52A-6382-4511-B556-C021A0B2965E}" destId="{725167C3-D77E-4B11-B311-6489D33A5DB9}" srcOrd="0" destOrd="0" presId="urn:microsoft.com/office/officeart/2016/7/layout/HorizontalActionList"/>
    <dgm:cxn modelId="{AC6C23FE-4662-4AD2-99D8-9B3563FFBE4E}" type="presOf" srcId="{6F3606C4-3E9C-4D04-8B49-5B72CCE6BA39}" destId="{C19C4125-CA4E-4A92-BC6B-310187999193}" srcOrd="0" destOrd="0" presId="urn:microsoft.com/office/officeart/2016/7/layout/HorizontalActionList"/>
    <dgm:cxn modelId="{59942705-E44E-4560-A84D-CC45246FC4B1}" type="presParOf" srcId="{01028E6C-0534-43C8-B791-87E0F4BB1608}" destId="{5FEB6372-B426-45CA-AB3C-1F9C0BB87B67}" srcOrd="0" destOrd="0" presId="urn:microsoft.com/office/officeart/2016/7/layout/HorizontalActionList"/>
    <dgm:cxn modelId="{C547A3D0-61DD-400F-A520-34174F79BE34}" type="presParOf" srcId="{5FEB6372-B426-45CA-AB3C-1F9C0BB87B67}" destId="{4A8AEC65-3084-401B-95F2-C51DC5B1093D}" srcOrd="0" destOrd="0" presId="urn:microsoft.com/office/officeart/2016/7/layout/HorizontalActionList"/>
    <dgm:cxn modelId="{6E23BFEE-0E27-4537-84B4-4693C432756C}" type="presParOf" srcId="{5FEB6372-B426-45CA-AB3C-1F9C0BB87B67}" destId="{9EF375BC-16C2-41E0-B2C4-88D69B71C3BC}" srcOrd="1" destOrd="0" presId="urn:microsoft.com/office/officeart/2016/7/layout/HorizontalActionList"/>
    <dgm:cxn modelId="{E322A56F-6786-45A2-B3BC-54D38E6F5825}" type="presParOf" srcId="{01028E6C-0534-43C8-B791-87E0F4BB1608}" destId="{581ECF3F-FDE1-4B47-895E-31D0C3F77E28}" srcOrd="1" destOrd="0" presId="urn:microsoft.com/office/officeart/2016/7/layout/HorizontalActionList"/>
    <dgm:cxn modelId="{FF2F922B-C23E-4DB4-B3D8-A8CC50DA131C}" type="presParOf" srcId="{01028E6C-0534-43C8-B791-87E0F4BB1608}" destId="{9F24DEB2-F167-4F2F-B42A-C31DC0B041CC}" srcOrd="2" destOrd="0" presId="urn:microsoft.com/office/officeart/2016/7/layout/HorizontalActionList"/>
    <dgm:cxn modelId="{C65B546B-2CF8-4A19-B356-48A99EE80BE3}" type="presParOf" srcId="{9F24DEB2-F167-4F2F-B42A-C31DC0B041CC}" destId="{725167C3-D77E-4B11-B311-6489D33A5DB9}" srcOrd="0" destOrd="0" presId="urn:microsoft.com/office/officeart/2016/7/layout/HorizontalActionList"/>
    <dgm:cxn modelId="{864A9400-CF5F-498F-8FFC-DD974933E0A9}" type="presParOf" srcId="{9F24DEB2-F167-4F2F-B42A-C31DC0B041CC}" destId="{77D548A5-EF80-47F6-8CEB-D544AE056B6B}" srcOrd="1" destOrd="0" presId="urn:microsoft.com/office/officeart/2016/7/layout/HorizontalActionList"/>
    <dgm:cxn modelId="{D2E1D689-D0AD-4178-BC5D-623E9AC78A30}" type="presParOf" srcId="{01028E6C-0534-43C8-B791-87E0F4BB1608}" destId="{22167E71-A414-4168-B796-ECB0774F8B1D}" srcOrd="3" destOrd="0" presId="urn:microsoft.com/office/officeart/2016/7/layout/HorizontalActionList"/>
    <dgm:cxn modelId="{A6B02419-071C-40FE-82B7-DB3CED78DFCD}" type="presParOf" srcId="{01028E6C-0534-43C8-B791-87E0F4BB1608}" destId="{3C2A369C-47DB-41D9-A505-2D5949B18019}" srcOrd="4" destOrd="0" presId="urn:microsoft.com/office/officeart/2016/7/layout/HorizontalActionList"/>
    <dgm:cxn modelId="{26BFB194-F63E-4661-BFC6-43E5D973400B}" type="presParOf" srcId="{3C2A369C-47DB-41D9-A505-2D5949B18019}" destId="{C19C4125-CA4E-4A92-BC6B-310187999193}" srcOrd="0" destOrd="0" presId="urn:microsoft.com/office/officeart/2016/7/layout/HorizontalActionList"/>
    <dgm:cxn modelId="{3DFFEB40-8705-4AEC-801A-CBECE5F21D08}" type="presParOf" srcId="{3C2A369C-47DB-41D9-A505-2D5949B18019}" destId="{B755D8F0-7779-427D-B902-72696E3F207E}" srcOrd="1" destOrd="0" presId="urn:microsoft.com/office/officeart/2016/7/layout/Horizontal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572E4E7-CCDC-4ECE-B641-5F0C55F84AE4}" type="doc">
      <dgm:prSet loTypeId="urn:microsoft.com/office/officeart/2016/7/layout/HorizontalActionList" loCatId="List" qsTypeId="urn:microsoft.com/office/officeart/2005/8/quickstyle/simple1" qsCatId="simple" csTypeId="urn:microsoft.com/office/officeart/2005/8/colors/colorful2" csCatId="colorful"/>
      <dgm:spPr/>
      <dgm:t>
        <a:bodyPr/>
        <a:lstStyle/>
        <a:p>
          <a:endParaRPr lang="en-US"/>
        </a:p>
      </dgm:t>
    </dgm:pt>
    <dgm:pt modelId="{AA19AFC4-982D-4EB1-A930-112CCEBCC543}">
      <dgm:prSet/>
      <dgm:spPr/>
      <dgm:t>
        <a:bodyPr/>
        <a:lstStyle/>
        <a:p>
          <a:r>
            <a:rPr lang="en-US"/>
            <a:t>Facilitating</a:t>
          </a:r>
        </a:p>
      </dgm:t>
    </dgm:pt>
    <dgm:pt modelId="{4BA6D157-FE9B-4792-92BC-48990716622F}" type="parTrans" cxnId="{11DCEF44-11D9-47B4-B817-02902C36D12B}">
      <dgm:prSet/>
      <dgm:spPr/>
      <dgm:t>
        <a:bodyPr/>
        <a:lstStyle/>
        <a:p>
          <a:endParaRPr lang="en-US"/>
        </a:p>
      </dgm:t>
    </dgm:pt>
    <dgm:pt modelId="{85AF95C0-BAB6-47A0-A019-6B2302337331}" type="sibTrans" cxnId="{11DCEF44-11D9-47B4-B817-02902C36D12B}">
      <dgm:prSet/>
      <dgm:spPr/>
      <dgm:t>
        <a:bodyPr/>
        <a:lstStyle/>
        <a:p>
          <a:endParaRPr lang="en-US"/>
        </a:p>
      </dgm:t>
    </dgm:pt>
    <dgm:pt modelId="{1C036C4B-DB7D-4160-8552-C3240F3249CC}">
      <dgm:prSet/>
      <dgm:spPr/>
      <dgm:t>
        <a:bodyPr/>
        <a:lstStyle/>
        <a:p>
          <a:r>
            <a:rPr lang="en-US"/>
            <a:t>Facilitating Accessibility and Flexibility:</a:t>
          </a:r>
        </a:p>
      </dgm:t>
    </dgm:pt>
    <dgm:pt modelId="{1BC7A7C7-DB98-47B5-B89C-78EFBDECF0E0}" type="parTrans" cxnId="{53BBE183-2B52-4003-9AC2-7798334D42BE}">
      <dgm:prSet/>
      <dgm:spPr/>
      <dgm:t>
        <a:bodyPr/>
        <a:lstStyle/>
        <a:p>
          <a:endParaRPr lang="en-US"/>
        </a:p>
      </dgm:t>
    </dgm:pt>
    <dgm:pt modelId="{2DE895E5-1A0A-46C0-B8F8-CFC5BF944963}" type="sibTrans" cxnId="{53BBE183-2B52-4003-9AC2-7798334D42BE}">
      <dgm:prSet/>
      <dgm:spPr/>
      <dgm:t>
        <a:bodyPr/>
        <a:lstStyle/>
        <a:p>
          <a:endParaRPr lang="en-US"/>
        </a:p>
      </dgm:t>
    </dgm:pt>
    <dgm:pt modelId="{70FF61D4-76BF-4AB3-8AB4-E9CC20287CBD}">
      <dgm:prSet/>
      <dgm:spPr/>
      <dgm:t>
        <a:bodyPr/>
        <a:lstStyle/>
        <a:p>
          <a:r>
            <a:rPr lang="en-US"/>
            <a:t>Access from multiple devices.</a:t>
          </a:r>
        </a:p>
      </dgm:t>
    </dgm:pt>
    <dgm:pt modelId="{F603C590-720F-49C0-B8B1-B50A442765B7}" type="parTrans" cxnId="{B26D50F7-693D-441A-AD91-899DFAC39238}">
      <dgm:prSet/>
      <dgm:spPr/>
      <dgm:t>
        <a:bodyPr/>
        <a:lstStyle/>
        <a:p>
          <a:endParaRPr lang="en-US"/>
        </a:p>
      </dgm:t>
    </dgm:pt>
    <dgm:pt modelId="{A7A84621-03EF-4CDF-A002-9C7AB60CCA35}" type="sibTrans" cxnId="{B26D50F7-693D-441A-AD91-899DFAC39238}">
      <dgm:prSet/>
      <dgm:spPr/>
      <dgm:t>
        <a:bodyPr/>
        <a:lstStyle/>
        <a:p>
          <a:endParaRPr lang="en-US"/>
        </a:p>
      </dgm:t>
    </dgm:pt>
    <dgm:pt modelId="{EB9EBE34-DA76-473C-B2D4-E4958DA49E41}">
      <dgm:prSet/>
      <dgm:spPr/>
      <dgm:t>
        <a:bodyPr/>
        <a:lstStyle/>
        <a:p>
          <a:r>
            <a:rPr lang="en-US"/>
            <a:t>Simplifying</a:t>
          </a:r>
        </a:p>
      </dgm:t>
    </dgm:pt>
    <dgm:pt modelId="{A9154C19-2AAC-4F30-A1A4-A40E3ECED997}" type="parTrans" cxnId="{634C72A1-2827-4E9F-84F1-33C69A8603A3}">
      <dgm:prSet/>
      <dgm:spPr/>
      <dgm:t>
        <a:bodyPr/>
        <a:lstStyle/>
        <a:p>
          <a:endParaRPr lang="en-US"/>
        </a:p>
      </dgm:t>
    </dgm:pt>
    <dgm:pt modelId="{449098C6-20D3-4657-9483-259D19F1EB40}" type="sibTrans" cxnId="{634C72A1-2827-4E9F-84F1-33C69A8603A3}">
      <dgm:prSet/>
      <dgm:spPr/>
      <dgm:t>
        <a:bodyPr/>
        <a:lstStyle/>
        <a:p>
          <a:endParaRPr lang="en-US"/>
        </a:p>
      </dgm:t>
    </dgm:pt>
    <dgm:pt modelId="{BB3453FC-2214-4F12-A0F6-94782D94A491}">
      <dgm:prSet/>
      <dgm:spPr/>
      <dgm:t>
        <a:bodyPr/>
        <a:lstStyle/>
        <a:p>
          <a:r>
            <a:rPr lang="en-US"/>
            <a:t>Simplifying Communication Across Departments:</a:t>
          </a:r>
        </a:p>
      </dgm:t>
    </dgm:pt>
    <dgm:pt modelId="{5A963B32-FE08-4FEE-9918-4B5840A69532}" type="parTrans" cxnId="{97506956-4581-4784-B6BD-92F8ED6137BB}">
      <dgm:prSet/>
      <dgm:spPr/>
      <dgm:t>
        <a:bodyPr/>
        <a:lstStyle/>
        <a:p>
          <a:endParaRPr lang="en-US"/>
        </a:p>
      </dgm:t>
    </dgm:pt>
    <dgm:pt modelId="{69276BDD-79A3-4841-BCD6-74D961C0CCA3}" type="sibTrans" cxnId="{97506956-4581-4784-B6BD-92F8ED6137BB}">
      <dgm:prSet/>
      <dgm:spPr/>
      <dgm:t>
        <a:bodyPr/>
        <a:lstStyle/>
        <a:p>
          <a:endParaRPr lang="en-US"/>
        </a:p>
      </dgm:t>
    </dgm:pt>
    <dgm:pt modelId="{5BC76B04-E68C-4E43-84D5-94F245CCB85D}">
      <dgm:prSet/>
      <dgm:spPr/>
      <dgm:t>
        <a:bodyPr/>
        <a:lstStyle/>
        <a:p>
          <a:r>
            <a:rPr lang="en-US"/>
            <a:t>Breaking down silos and promoting transparency.</a:t>
          </a:r>
        </a:p>
      </dgm:t>
    </dgm:pt>
    <dgm:pt modelId="{8DF596E5-FB5D-466A-8D8B-2197C612EF99}" type="parTrans" cxnId="{AA77511D-137A-4A40-82E8-E2124D4DE5F7}">
      <dgm:prSet/>
      <dgm:spPr/>
      <dgm:t>
        <a:bodyPr/>
        <a:lstStyle/>
        <a:p>
          <a:endParaRPr lang="en-US"/>
        </a:p>
      </dgm:t>
    </dgm:pt>
    <dgm:pt modelId="{4698C286-82FC-4247-B1DA-952882795849}" type="sibTrans" cxnId="{AA77511D-137A-4A40-82E8-E2124D4DE5F7}">
      <dgm:prSet/>
      <dgm:spPr/>
      <dgm:t>
        <a:bodyPr/>
        <a:lstStyle/>
        <a:p>
          <a:endParaRPr lang="en-US"/>
        </a:p>
      </dgm:t>
    </dgm:pt>
    <dgm:pt modelId="{675BBD3C-FA5E-4BA2-83E2-FE8BB9753649}" type="pres">
      <dgm:prSet presAssocID="{C572E4E7-CCDC-4ECE-B641-5F0C55F84AE4}" presName="Name0" presStyleCnt="0">
        <dgm:presLayoutVars>
          <dgm:dir/>
          <dgm:animLvl val="lvl"/>
          <dgm:resizeHandles val="exact"/>
        </dgm:presLayoutVars>
      </dgm:prSet>
      <dgm:spPr/>
    </dgm:pt>
    <dgm:pt modelId="{984EE687-9C69-457E-B283-5382CD28D819}" type="pres">
      <dgm:prSet presAssocID="{AA19AFC4-982D-4EB1-A930-112CCEBCC543}" presName="composite" presStyleCnt="0"/>
      <dgm:spPr/>
    </dgm:pt>
    <dgm:pt modelId="{FBE14522-8C50-4946-9AC8-BC3F4D333C3A}" type="pres">
      <dgm:prSet presAssocID="{AA19AFC4-982D-4EB1-A930-112CCEBCC543}" presName="parTx" presStyleLbl="alignNode1" presStyleIdx="0" presStyleCnt="2">
        <dgm:presLayoutVars>
          <dgm:chMax val="0"/>
          <dgm:chPref val="0"/>
        </dgm:presLayoutVars>
      </dgm:prSet>
      <dgm:spPr/>
    </dgm:pt>
    <dgm:pt modelId="{2CE2639B-8B5F-4B03-A786-B3FB9A26B2BB}" type="pres">
      <dgm:prSet presAssocID="{AA19AFC4-982D-4EB1-A930-112CCEBCC543}" presName="desTx" presStyleLbl="alignAccFollowNode1" presStyleIdx="0" presStyleCnt="2">
        <dgm:presLayoutVars/>
      </dgm:prSet>
      <dgm:spPr/>
    </dgm:pt>
    <dgm:pt modelId="{92285AD8-3738-468E-926B-1A9B522D5410}" type="pres">
      <dgm:prSet presAssocID="{85AF95C0-BAB6-47A0-A019-6B2302337331}" presName="space" presStyleCnt="0"/>
      <dgm:spPr/>
    </dgm:pt>
    <dgm:pt modelId="{8464EC2D-78F6-4674-A91A-024706ED5347}" type="pres">
      <dgm:prSet presAssocID="{EB9EBE34-DA76-473C-B2D4-E4958DA49E41}" presName="composite" presStyleCnt="0"/>
      <dgm:spPr/>
    </dgm:pt>
    <dgm:pt modelId="{82C834FF-6E19-4C5D-B226-719A1EB99C4C}" type="pres">
      <dgm:prSet presAssocID="{EB9EBE34-DA76-473C-B2D4-E4958DA49E41}" presName="parTx" presStyleLbl="alignNode1" presStyleIdx="1" presStyleCnt="2">
        <dgm:presLayoutVars>
          <dgm:chMax val="0"/>
          <dgm:chPref val="0"/>
        </dgm:presLayoutVars>
      </dgm:prSet>
      <dgm:spPr/>
    </dgm:pt>
    <dgm:pt modelId="{DF72945D-3F6F-4C4D-90B2-68E727DBC502}" type="pres">
      <dgm:prSet presAssocID="{EB9EBE34-DA76-473C-B2D4-E4958DA49E41}" presName="desTx" presStyleLbl="alignAccFollowNode1" presStyleIdx="1" presStyleCnt="2">
        <dgm:presLayoutVars/>
      </dgm:prSet>
      <dgm:spPr/>
    </dgm:pt>
  </dgm:ptLst>
  <dgm:cxnLst>
    <dgm:cxn modelId="{6A1E2504-F2AE-424F-AED2-032A2D797ED9}" type="presOf" srcId="{C572E4E7-CCDC-4ECE-B641-5F0C55F84AE4}" destId="{675BBD3C-FA5E-4BA2-83E2-FE8BB9753649}" srcOrd="0" destOrd="0" presId="urn:microsoft.com/office/officeart/2016/7/layout/HorizontalActionList"/>
    <dgm:cxn modelId="{AA77511D-137A-4A40-82E8-E2124D4DE5F7}" srcId="{BB3453FC-2214-4F12-A0F6-94782D94A491}" destId="{5BC76B04-E68C-4E43-84D5-94F245CCB85D}" srcOrd="0" destOrd="0" parTransId="{8DF596E5-FB5D-466A-8D8B-2197C612EF99}" sibTransId="{4698C286-82FC-4247-B1DA-952882795849}"/>
    <dgm:cxn modelId="{A866072A-1533-4C8B-A1EB-2BDFD6CB4B85}" type="presOf" srcId="{1C036C4B-DB7D-4160-8552-C3240F3249CC}" destId="{2CE2639B-8B5F-4B03-A786-B3FB9A26B2BB}" srcOrd="0" destOrd="0" presId="urn:microsoft.com/office/officeart/2016/7/layout/HorizontalActionList"/>
    <dgm:cxn modelId="{11DCEF44-11D9-47B4-B817-02902C36D12B}" srcId="{C572E4E7-CCDC-4ECE-B641-5F0C55F84AE4}" destId="{AA19AFC4-982D-4EB1-A930-112CCEBCC543}" srcOrd="0" destOrd="0" parTransId="{4BA6D157-FE9B-4792-92BC-48990716622F}" sibTransId="{85AF95C0-BAB6-47A0-A019-6B2302337331}"/>
    <dgm:cxn modelId="{97506956-4581-4784-B6BD-92F8ED6137BB}" srcId="{EB9EBE34-DA76-473C-B2D4-E4958DA49E41}" destId="{BB3453FC-2214-4F12-A0F6-94782D94A491}" srcOrd="0" destOrd="0" parTransId="{5A963B32-FE08-4FEE-9918-4B5840A69532}" sibTransId="{69276BDD-79A3-4841-BCD6-74D961C0CCA3}"/>
    <dgm:cxn modelId="{53BBE183-2B52-4003-9AC2-7798334D42BE}" srcId="{AA19AFC4-982D-4EB1-A930-112CCEBCC543}" destId="{1C036C4B-DB7D-4160-8552-C3240F3249CC}" srcOrd="0" destOrd="0" parTransId="{1BC7A7C7-DB98-47B5-B89C-78EFBDECF0E0}" sibTransId="{2DE895E5-1A0A-46C0-B8F8-CFC5BF944963}"/>
    <dgm:cxn modelId="{634C72A1-2827-4E9F-84F1-33C69A8603A3}" srcId="{C572E4E7-CCDC-4ECE-B641-5F0C55F84AE4}" destId="{EB9EBE34-DA76-473C-B2D4-E4958DA49E41}" srcOrd="1" destOrd="0" parTransId="{A9154C19-2AAC-4F30-A1A4-A40E3ECED997}" sibTransId="{449098C6-20D3-4657-9483-259D19F1EB40}"/>
    <dgm:cxn modelId="{6105B7BC-E076-4C58-9560-9DC334981D9F}" type="presOf" srcId="{AA19AFC4-982D-4EB1-A930-112CCEBCC543}" destId="{FBE14522-8C50-4946-9AC8-BC3F4D333C3A}" srcOrd="0" destOrd="0" presId="urn:microsoft.com/office/officeart/2016/7/layout/HorizontalActionList"/>
    <dgm:cxn modelId="{1772A1CB-98A5-4E9D-8134-EB499D5B159A}" type="presOf" srcId="{70FF61D4-76BF-4AB3-8AB4-E9CC20287CBD}" destId="{2CE2639B-8B5F-4B03-A786-B3FB9A26B2BB}" srcOrd="0" destOrd="1" presId="urn:microsoft.com/office/officeart/2016/7/layout/HorizontalActionList"/>
    <dgm:cxn modelId="{FCDCCBDD-F2F6-467D-8569-8EC7CA304451}" type="presOf" srcId="{EB9EBE34-DA76-473C-B2D4-E4958DA49E41}" destId="{82C834FF-6E19-4C5D-B226-719A1EB99C4C}" srcOrd="0" destOrd="0" presId="urn:microsoft.com/office/officeart/2016/7/layout/HorizontalActionList"/>
    <dgm:cxn modelId="{80D889DF-3026-49D5-A052-C227280A7A55}" type="presOf" srcId="{BB3453FC-2214-4F12-A0F6-94782D94A491}" destId="{DF72945D-3F6F-4C4D-90B2-68E727DBC502}" srcOrd="0" destOrd="0" presId="urn:microsoft.com/office/officeart/2016/7/layout/HorizontalActionList"/>
    <dgm:cxn modelId="{D2BBFDEC-DD71-4ECC-AD88-C8AA549C6F52}" type="presOf" srcId="{5BC76B04-E68C-4E43-84D5-94F245CCB85D}" destId="{DF72945D-3F6F-4C4D-90B2-68E727DBC502}" srcOrd="0" destOrd="1" presId="urn:microsoft.com/office/officeart/2016/7/layout/HorizontalActionList"/>
    <dgm:cxn modelId="{B26D50F7-693D-441A-AD91-899DFAC39238}" srcId="{1C036C4B-DB7D-4160-8552-C3240F3249CC}" destId="{70FF61D4-76BF-4AB3-8AB4-E9CC20287CBD}" srcOrd="0" destOrd="0" parTransId="{F603C590-720F-49C0-B8B1-B50A442765B7}" sibTransId="{A7A84621-03EF-4CDF-A002-9C7AB60CCA35}"/>
    <dgm:cxn modelId="{6B14EE74-B885-4DE1-9735-1757992DEB62}" type="presParOf" srcId="{675BBD3C-FA5E-4BA2-83E2-FE8BB9753649}" destId="{984EE687-9C69-457E-B283-5382CD28D819}" srcOrd="0" destOrd="0" presId="urn:microsoft.com/office/officeart/2016/7/layout/HorizontalActionList"/>
    <dgm:cxn modelId="{04703A2E-BB1E-4A6B-8114-E67327D42785}" type="presParOf" srcId="{984EE687-9C69-457E-B283-5382CD28D819}" destId="{FBE14522-8C50-4946-9AC8-BC3F4D333C3A}" srcOrd="0" destOrd="0" presId="urn:microsoft.com/office/officeart/2016/7/layout/HorizontalActionList"/>
    <dgm:cxn modelId="{1BDF9FA4-2EC3-43AF-AD7F-738DB692A8C9}" type="presParOf" srcId="{984EE687-9C69-457E-B283-5382CD28D819}" destId="{2CE2639B-8B5F-4B03-A786-B3FB9A26B2BB}" srcOrd="1" destOrd="0" presId="urn:microsoft.com/office/officeart/2016/7/layout/HorizontalActionList"/>
    <dgm:cxn modelId="{AF61076C-BD98-46D8-AC4F-4BD0D5B61717}" type="presParOf" srcId="{675BBD3C-FA5E-4BA2-83E2-FE8BB9753649}" destId="{92285AD8-3738-468E-926B-1A9B522D5410}" srcOrd="1" destOrd="0" presId="urn:microsoft.com/office/officeart/2016/7/layout/HorizontalActionList"/>
    <dgm:cxn modelId="{0AA65A05-C6D9-4889-B432-D41135565F33}" type="presParOf" srcId="{675BBD3C-FA5E-4BA2-83E2-FE8BB9753649}" destId="{8464EC2D-78F6-4674-A91A-024706ED5347}" srcOrd="2" destOrd="0" presId="urn:microsoft.com/office/officeart/2016/7/layout/HorizontalActionList"/>
    <dgm:cxn modelId="{C2BD3B02-458D-458D-A6A1-14914861561F}" type="presParOf" srcId="{8464EC2D-78F6-4674-A91A-024706ED5347}" destId="{82C834FF-6E19-4C5D-B226-719A1EB99C4C}" srcOrd="0" destOrd="0" presId="urn:microsoft.com/office/officeart/2016/7/layout/HorizontalActionList"/>
    <dgm:cxn modelId="{3A223308-848A-47E1-91FC-0C6B11F5908F}" type="presParOf" srcId="{8464EC2D-78F6-4674-A91A-024706ED5347}" destId="{DF72945D-3F6F-4C4D-90B2-68E727DBC502}" srcOrd="1" destOrd="0" presId="urn:microsoft.com/office/officeart/2016/7/layout/Horizontal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8A188FA-F5F8-479B-AF10-6D6D09DA21A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F2C6EE4-AA2C-470A-879E-41BE75FFB3BF}">
      <dgm:prSet/>
      <dgm:spPr/>
      <dgm:t>
        <a:bodyPr/>
        <a:lstStyle/>
        <a:p>
          <a:r>
            <a:rPr lang="en-US"/>
            <a:t>Rapid growth in digital collaboration tools since 2020.</a:t>
          </a:r>
        </a:p>
      </dgm:t>
    </dgm:pt>
    <dgm:pt modelId="{52C3BF3B-1CEA-4725-8DD9-6EE9640832BE}" type="parTrans" cxnId="{EC30F9A9-3C19-4DB8-8EE2-1F00BB53953F}">
      <dgm:prSet/>
      <dgm:spPr/>
      <dgm:t>
        <a:bodyPr/>
        <a:lstStyle/>
        <a:p>
          <a:endParaRPr lang="en-US"/>
        </a:p>
      </dgm:t>
    </dgm:pt>
    <dgm:pt modelId="{24DD2E62-9C1C-4ABD-9927-8960CE32E6B4}" type="sibTrans" cxnId="{EC30F9A9-3C19-4DB8-8EE2-1F00BB53953F}">
      <dgm:prSet/>
      <dgm:spPr/>
      <dgm:t>
        <a:bodyPr/>
        <a:lstStyle/>
        <a:p>
          <a:endParaRPr lang="en-US"/>
        </a:p>
      </dgm:t>
    </dgm:pt>
    <dgm:pt modelId="{E68A50AB-7EA2-419F-A1E9-67643ED12C87}">
      <dgm:prSet/>
      <dgm:spPr/>
      <dgm:t>
        <a:bodyPr/>
        <a:lstStyle/>
        <a:p>
          <a:r>
            <a:rPr lang="en-US"/>
            <a:t>Importance of communication tools during remote work.</a:t>
          </a:r>
        </a:p>
      </dgm:t>
    </dgm:pt>
    <dgm:pt modelId="{A07F2F97-C317-4F3B-88A6-FF719676A51E}" type="parTrans" cxnId="{F4944C28-9199-4342-8737-F61818AE09C7}">
      <dgm:prSet/>
      <dgm:spPr/>
      <dgm:t>
        <a:bodyPr/>
        <a:lstStyle/>
        <a:p>
          <a:endParaRPr lang="en-US"/>
        </a:p>
      </dgm:t>
    </dgm:pt>
    <dgm:pt modelId="{ACAD8897-002C-443C-AF16-343132CE91CD}" type="sibTrans" cxnId="{F4944C28-9199-4342-8737-F61818AE09C7}">
      <dgm:prSet/>
      <dgm:spPr/>
      <dgm:t>
        <a:bodyPr/>
        <a:lstStyle/>
        <a:p>
          <a:endParaRPr lang="en-US"/>
        </a:p>
      </dgm:t>
    </dgm:pt>
    <dgm:pt modelId="{A238F45E-6AB3-4928-9B2F-C97E02F50234}">
      <dgm:prSet/>
      <dgm:spPr/>
      <dgm:t>
        <a:bodyPr/>
        <a:lstStyle/>
        <a:p>
          <a:r>
            <a:rPr lang="en-US"/>
            <a:t>Adoption driven by necessity and efficiency.</a:t>
          </a:r>
        </a:p>
      </dgm:t>
    </dgm:pt>
    <dgm:pt modelId="{DD53A2CF-4BC0-4169-A0B5-19D4510F3CFA}" type="parTrans" cxnId="{9079B1B5-B9C2-4248-85B2-30C8E8D9C9FE}">
      <dgm:prSet/>
      <dgm:spPr/>
      <dgm:t>
        <a:bodyPr/>
        <a:lstStyle/>
        <a:p>
          <a:endParaRPr lang="en-US"/>
        </a:p>
      </dgm:t>
    </dgm:pt>
    <dgm:pt modelId="{BB4F9F15-B61C-413D-89CB-7F5F71135396}" type="sibTrans" cxnId="{9079B1B5-B9C2-4248-85B2-30C8E8D9C9FE}">
      <dgm:prSet/>
      <dgm:spPr/>
      <dgm:t>
        <a:bodyPr/>
        <a:lstStyle/>
        <a:p>
          <a:endParaRPr lang="en-US"/>
        </a:p>
      </dgm:t>
    </dgm:pt>
    <dgm:pt modelId="{61E6CCB5-1354-4871-8CFE-C8E20BEBEEC9}" type="pres">
      <dgm:prSet presAssocID="{58A188FA-F5F8-479B-AF10-6D6D09DA21AA}" presName="root" presStyleCnt="0">
        <dgm:presLayoutVars>
          <dgm:dir/>
          <dgm:resizeHandles val="exact"/>
        </dgm:presLayoutVars>
      </dgm:prSet>
      <dgm:spPr/>
    </dgm:pt>
    <dgm:pt modelId="{ECD0C158-F6FF-40C9-9258-ECBD3BD262F3}" type="pres">
      <dgm:prSet presAssocID="{7F2C6EE4-AA2C-470A-879E-41BE75FFB3BF}" presName="compNode" presStyleCnt="0"/>
      <dgm:spPr/>
    </dgm:pt>
    <dgm:pt modelId="{C4DA8A69-3274-4BAC-8AA2-FE6035FA7214}" type="pres">
      <dgm:prSet presAssocID="{7F2C6EE4-AA2C-470A-879E-41BE75FFB3BF}" presName="bgRect" presStyleLbl="bgShp" presStyleIdx="0" presStyleCnt="3"/>
      <dgm:spPr/>
    </dgm:pt>
    <dgm:pt modelId="{0D5025C9-F83F-483E-804C-6396AB4D8CD5}" type="pres">
      <dgm:prSet presAssocID="{7F2C6EE4-AA2C-470A-879E-41BE75FFB3B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pward trend"/>
        </a:ext>
      </dgm:extLst>
    </dgm:pt>
    <dgm:pt modelId="{0C1DF728-F58D-466C-B71D-3A58981FFA58}" type="pres">
      <dgm:prSet presAssocID="{7F2C6EE4-AA2C-470A-879E-41BE75FFB3BF}" presName="spaceRect" presStyleCnt="0"/>
      <dgm:spPr/>
    </dgm:pt>
    <dgm:pt modelId="{DD44C90E-E575-4D44-82E2-8B066AF02A8A}" type="pres">
      <dgm:prSet presAssocID="{7F2C6EE4-AA2C-470A-879E-41BE75FFB3BF}" presName="parTx" presStyleLbl="revTx" presStyleIdx="0" presStyleCnt="3">
        <dgm:presLayoutVars>
          <dgm:chMax val="0"/>
          <dgm:chPref val="0"/>
        </dgm:presLayoutVars>
      </dgm:prSet>
      <dgm:spPr/>
    </dgm:pt>
    <dgm:pt modelId="{2BCB9AA9-942A-4767-A562-33C36550EC6C}" type="pres">
      <dgm:prSet presAssocID="{24DD2E62-9C1C-4ABD-9927-8960CE32E6B4}" presName="sibTrans" presStyleCnt="0"/>
      <dgm:spPr/>
    </dgm:pt>
    <dgm:pt modelId="{582ACBC7-C71F-46E9-A40B-4D07B9CF3FE2}" type="pres">
      <dgm:prSet presAssocID="{E68A50AB-7EA2-419F-A1E9-67643ED12C87}" presName="compNode" presStyleCnt="0"/>
      <dgm:spPr/>
    </dgm:pt>
    <dgm:pt modelId="{EB1D0735-E034-40FF-A3C0-8BE6FF3CF0B4}" type="pres">
      <dgm:prSet presAssocID="{E68A50AB-7EA2-419F-A1E9-67643ED12C87}" presName="bgRect" presStyleLbl="bgShp" presStyleIdx="1" presStyleCnt="3"/>
      <dgm:spPr/>
    </dgm:pt>
    <dgm:pt modelId="{4F347877-0022-41AB-9873-BDDCF02ADD29}" type="pres">
      <dgm:prSet presAssocID="{E68A50AB-7EA2-419F-A1E9-67643ED12C8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emote control"/>
        </a:ext>
      </dgm:extLst>
    </dgm:pt>
    <dgm:pt modelId="{6B5FE1A7-DAB9-4F01-8BC1-6FED0893E6D1}" type="pres">
      <dgm:prSet presAssocID="{E68A50AB-7EA2-419F-A1E9-67643ED12C87}" presName="spaceRect" presStyleCnt="0"/>
      <dgm:spPr/>
    </dgm:pt>
    <dgm:pt modelId="{33C097C7-018F-47B4-89FC-C8E6018F53C0}" type="pres">
      <dgm:prSet presAssocID="{E68A50AB-7EA2-419F-A1E9-67643ED12C87}" presName="parTx" presStyleLbl="revTx" presStyleIdx="1" presStyleCnt="3">
        <dgm:presLayoutVars>
          <dgm:chMax val="0"/>
          <dgm:chPref val="0"/>
        </dgm:presLayoutVars>
      </dgm:prSet>
      <dgm:spPr/>
    </dgm:pt>
    <dgm:pt modelId="{A045CE70-671B-4029-B957-80E6361D8F89}" type="pres">
      <dgm:prSet presAssocID="{ACAD8897-002C-443C-AF16-343132CE91CD}" presName="sibTrans" presStyleCnt="0"/>
      <dgm:spPr/>
    </dgm:pt>
    <dgm:pt modelId="{A73E61BF-E4C8-48C7-928E-0EEB8AF1F1F9}" type="pres">
      <dgm:prSet presAssocID="{A238F45E-6AB3-4928-9B2F-C97E02F50234}" presName="compNode" presStyleCnt="0"/>
      <dgm:spPr/>
    </dgm:pt>
    <dgm:pt modelId="{6999D918-42C8-4BF6-9939-29F275C35CE3}" type="pres">
      <dgm:prSet presAssocID="{A238F45E-6AB3-4928-9B2F-C97E02F50234}" presName="bgRect" presStyleLbl="bgShp" presStyleIdx="2" presStyleCnt="3"/>
      <dgm:spPr/>
    </dgm:pt>
    <dgm:pt modelId="{0E3491FF-8FB1-491E-90C1-9E226E96F9AE}" type="pres">
      <dgm:prSet presAssocID="{A238F45E-6AB3-4928-9B2F-C97E02F5023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4B817B8B-E911-44C7-8DE6-46BF7628CD2C}" type="pres">
      <dgm:prSet presAssocID="{A238F45E-6AB3-4928-9B2F-C97E02F50234}" presName="spaceRect" presStyleCnt="0"/>
      <dgm:spPr/>
    </dgm:pt>
    <dgm:pt modelId="{3912668D-020E-4232-A181-CFC4B5D102B1}" type="pres">
      <dgm:prSet presAssocID="{A238F45E-6AB3-4928-9B2F-C97E02F50234}" presName="parTx" presStyleLbl="revTx" presStyleIdx="2" presStyleCnt="3">
        <dgm:presLayoutVars>
          <dgm:chMax val="0"/>
          <dgm:chPref val="0"/>
        </dgm:presLayoutVars>
      </dgm:prSet>
      <dgm:spPr/>
    </dgm:pt>
  </dgm:ptLst>
  <dgm:cxnLst>
    <dgm:cxn modelId="{F4944C28-9199-4342-8737-F61818AE09C7}" srcId="{58A188FA-F5F8-479B-AF10-6D6D09DA21AA}" destId="{E68A50AB-7EA2-419F-A1E9-67643ED12C87}" srcOrd="1" destOrd="0" parTransId="{A07F2F97-C317-4F3B-88A6-FF719676A51E}" sibTransId="{ACAD8897-002C-443C-AF16-343132CE91CD}"/>
    <dgm:cxn modelId="{FADACE6B-2B32-40C9-9889-DA87D956CD98}" type="presOf" srcId="{E68A50AB-7EA2-419F-A1E9-67643ED12C87}" destId="{33C097C7-018F-47B4-89FC-C8E6018F53C0}" srcOrd="0" destOrd="0" presId="urn:microsoft.com/office/officeart/2018/2/layout/IconVerticalSolidList"/>
    <dgm:cxn modelId="{1C29147B-309F-4072-BF3A-05B3B97E7836}" type="presOf" srcId="{58A188FA-F5F8-479B-AF10-6D6D09DA21AA}" destId="{61E6CCB5-1354-4871-8CFE-C8E20BEBEEC9}" srcOrd="0" destOrd="0" presId="urn:microsoft.com/office/officeart/2018/2/layout/IconVerticalSolidList"/>
    <dgm:cxn modelId="{7582C084-1F50-480F-8CD2-FF394A60248D}" type="presOf" srcId="{A238F45E-6AB3-4928-9B2F-C97E02F50234}" destId="{3912668D-020E-4232-A181-CFC4B5D102B1}" srcOrd="0" destOrd="0" presId="urn:microsoft.com/office/officeart/2018/2/layout/IconVerticalSolidList"/>
    <dgm:cxn modelId="{EC30F9A9-3C19-4DB8-8EE2-1F00BB53953F}" srcId="{58A188FA-F5F8-479B-AF10-6D6D09DA21AA}" destId="{7F2C6EE4-AA2C-470A-879E-41BE75FFB3BF}" srcOrd="0" destOrd="0" parTransId="{52C3BF3B-1CEA-4725-8DD9-6EE9640832BE}" sibTransId="{24DD2E62-9C1C-4ABD-9927-8960CE32E6B4}"/>
    <dgm:cxn modelId="{9079B1B5-B9C2-4248-85B2-30C8E8D9C9FE}" srcId="{58A188FA-F5F8-479B-AF10-6D6D09DA21AA}" destId="{A238F45E-6AB3-4928-9B2F-C97E02F50234}" srcOrd="2" destOrd="0" parTransId="{DD53A2CF-4BC0-4169-A0B5-19D4510F3CFA}" sibTransId="{BB4F9F15-B61C-413D-89CB-7F5F71135396}"/>
    <dgm:cxn modelId="{1145E0C8-F3D1-4364-B4FF-A14B3C34EF42}" type="presOf" srcId="{7F2C6EE4-AA2C-470A-879E-41BE75FFB3BF}" destId="{DD44C90E-E575-4D44-82E2-8B066AF02A8A}" srcOrd="0" destOrd="0" presId="urn:microsoft.com/office/officeart/2018/2/layout/IconVerticalSolidList"/>
    <dgm:cxn modelId="{10CE5743-DE07-4FF0-BF4F-5324B54F622E}" type="presParOf" srcId="{61E6CCB5-1354-4871-8CFE-C8E20BEBEEC9}" destId="{ECD0C158-F6FF-40C9-9258-ECBD3BD262F3}" srcOrd="0" destOrd="0" presId="urn:microsoft.com/office/officeart/2018/2/layout/IconVerticalSolidList"/>
    <dgm:cxn modelId="{57518806-73F0-4916-8F5E-EA9BCE04D99C}" type="presParOf" srcId="{ECD0C158-F6FF-40C9-9258-ECBD3BD262F3}" destId="{C4DA8A69-3274-4BAC-8AA2-FE6035FA7214}" srcOrd="0" destOrd="0" presId="urn:microsoft.com/office/officeart/2018/2/layout/IconVerticalSolidList"/>
    <dgm:cxn modelId="{0076C659-F3D2-479D-870E-5A11C12B0A00}" type="presParOf" srcId="{ECD0C158-F6FF-40C9-9258-ECBD3BD262F3}" destId="{0D5025C9-F83F-483E-804C-6396AB4D8CD5}" srcOrd="1" destOrd="0" presId="urn:microsoft.com/office/officeart/2018/2/layout/IconVerticalSolidList"/>
    <dgm:cxn modelId="{51112599-D6D8-45C4-81AF-7CF92D4E10B8}" type="presParOf" srcId="{ECD0C158-F6FF-40C9-9258-ECBD3BD262F3}" destId="{0C1DF728-F58D-466C-B71D-3A58981FFA58}" srcOrd="2" destOrd="0" presId="urn:microsoft.com/office/officeart/2018/2/layout/IconVerticalSolidList"/>
    <dgm:cxn modelId="{C8D277A8-777F-42BC-979D-F1FC7B0D7D12}" type="presParOf" srcId="{ECD0C158-F6FF-40C9-9258-ECBD3BD262F3}" destId="{DD44C90E-E575-4D44-82E2-8B066AF02A8A}" srcOrd="3" destOrd="0" presId="urn:microsoft.com/office/officeart/2018/2/layout/IconVerticalSolidList"/>
    <dgm:cxn modelId="{3FE0B009-DC61-4DC5-A1B3-C9A70C270E3B}" type="presParOf" srcId="{61E6CCB5-1354-4871-8CFE-C8E20BEBEEC9}" destId="{2BCB9AA9-942A-4767-A562-33C36550EC6C}" srcOrd="1" destOrd="0" presId="urn:microsoft.com/office/officeart/2018/2/layout/IconVerticalSolidList"/>
    <dgm:cxn modelId="{83FACD3E-BD45-42B2-AC01-21982FEF1DD8}" type="presParOf" srcId="{61E6CCB5-1354-4871-8CFE-C8E20BEBEEC9}" destId="{582ACBC7-C71F-46E9-A40B-4D07B9CF3FE2}" srcOrd="2" destOrd="0" presId="urn:microsoft.com/office/officeart/2018/2/layout/IconVerticalSolidList"/>
    <dgm:cxn modelId="{4ED4B4FA-FEF1-4FA9-865E-4B20F6F4BB7F}" type="presParOf" srcId="{582ACBC7-C71F-46E9-A40B-4D07B9CF3FE2}" destId="{EB1D0735-E034-40FF-A3C0-8BE6FF3CF0B4}" srcOrd="0" destOrd="0" presId="urn:microsoft.com/office/officeart/2018/2/layout/IconVerticalSolidList"/>
    <dgm:cxn modelId="{44CBFBF4-CCF2-467B-9A60-10514DB91601}" type="presParOf" srcId="{582ACBC7-C71F-46E9-A40B-4D07B9CF3FE2}" destId="{4F347877-0022-41AB-9873-BDDCF02ADD29}" srcOrd="1" destOrd="0" presId="urn:microsoft.com/office/officeart/2018/2/layout/IconVerticalSolidList"/>
    <dgm:cxn modelId="{06B8249E-94D9-41E2-8359-429456CC486D}" type="presParOf" srcId="{582ACBC7-C71F-46E9-A40B-4D07B9CF3FE2}" destId="{6B5FE1A7-DAB9-4F01-8BC1-6FED0893E6D1}" srcOrd="2" destOrd="0" presId="urn:microsoft.com/office/officeart/2018/2/layout/IconVerticalSolidList"/>
    <dgm:cxn modelId="{CBD8D628-A1E6-493F-98E4-28C2D40C8613}" type="presParOf" srcId="{582ACBC7-C71F-46E9-A40B-4D07B9CF3FE2}" destId="{33C097C7-018F-47B4-89FC-C8E6018F53C0}" srcOrd="3" destOrd="0" presId="urn:microsoft.com/office/officeart/2018/2/layout/IconVerticalSolidList"/>
    <dgm:cxn modelId="{D5B7D11C-F494-465C-A0BC-A6E97302505F}" type="presParOf" srcId="{61E6CCB5-1354-4871-8CFE-C8E20BEBEEC9}" destId="{A045CE70-671B-4029-B957-80E6361D8F89}" srcOrd="3" destOrd="0" presId="urn:microsoft.com/office/officeart/2018/2/layout/IconVerticalSolidList"/>
    <dgm:cxn modelId="{A04C900F-F81B-427C-8675-5A0F903388B0}" type="presParOf" srcId="{61E6CCB5-1354-4871-8CFE-C8E20BEBEEC9}" destId="{A73E61BF-E4C8-48C7-928E-0EEB8AF1F1F9}" srcOrd="4" destOrd="0" presId="urn:microsoft.com/office/officeart/2018/2/layout/IconVerticalSolidList"/>
    <dgm:cxn modelId="{75702F15-2AD0-4FCD-9F1D-C9BDCB51C53E}" type="presParOf" srcId="{A73E61BF-E4C8-48C7-928E-0EEB8AF1F1F9}" destId="{6999D918-42C8-4BF6-9939-29F275C35CE3}" srcOrd="0" destOrd="0" presId="urn:microsoft.com/office/officeart/2018/2/layout/IconVerticalSolidList"/>
    <dgm:cxn modelId="{BA53BB79-8017-4B40-BEA5-880E6EC5A4E2}" type="presParOf" srcId="{A73E61BF-E4C8-48C7-928E-0EEB8AF1F1F9}" destId="{0E3491FF-8FB1-491E-90C1-9E226E96F9AE}" srcOrd="1" destOrd="0" presId="urn:microsoft.com/office/officeart/2018/2/layout/IconVerticalSolidList"/>
    <dgm:cxn modelId="{F16F54B1-6C92-4978-9503-5B16B974C3DB}" type="presParOf" srcId="{A73E61BF-E4C8-48C7-928E-0EEB8AF1F1F9}" destId="{4B817B8B-E911-44C7-8DE6-46BF7628CD2C}" srcOrd="2" destOrd="0" presId="urn:microsoft.com/office/officeart/2018/2/layout/IconVerticalSolidList"/>
    <dgm:cxn modelId="{B4749441-1B4F-49FC-902B-610A6B4AA5C4}" type="presParOf" srcId="{A73E61BF-E4C8-48C7-928E-0EEB8AF1F1F9}" destId="{3912668D-020E-4232-A181-CFC4B5D102B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9EDF4B1-410A-465C-832C-A008F2255037}"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19A3077A-DF7B-4EF3-ACD0-2845F9E90ECD}">
      <dgm:prSet/>
      <dgm:spPr/>
      <dgm:t>
        <a:bodyPr/>
        <a:lstStyle/>
        <a:p>
          <a:r>
            <a:rPr lang="en-US" b="1"/>
            <a:t>Market Share:</a:t>
          </a:r>
          <a:r>
            <a:rPr lang="en-US"/>
            <a:t> Microsoft Teams has become one of the leading platforms in the business communication space, with an estimated market share of over </a:t>
          </a:r>
          <a:r>
            <a:rPr lang="en-US" b="1"/>
            <a:t>30%</a:t>
          </a:r>
          <a:r>
            <a:rPr lang="en-US"/>
            <a:t> in the collaboration software sector as of 2023.</a:t>
          </a:r>
        </a:p>
      </dgm:t>
    </dgm:pt>
    <dgm:pt modelId="{45E6132C-011D-4649-A86E-CFAA2675D02C}" type="parTrans" cxnId="{BA4D7862-B2F3-47B4-84A1-9F96D5E8BDFF}">
      <dgm:prSet/>
      <dgm:spPr/>
      <dgm:t>
        <a:bodyPr/>
        <a:lstStyle/>
        <a:p>
          <a:endParaRPr lang="en-US"/>
        </a:p>
      </dgm:t>
    </dgm:pt>
    <dgm:pt modelId="{CCD9957C-A1EA-47A6-A593-811DD645BA20}" type="sibTrans" cxnId="{BA4D7862-B2F3-47B4-84A1-9F96D5E8BDFF}">
      <dgm:prSet/>
      <dgm:spPr/>
      <dgm:t>
        <a:bodyPr/>
        <a:lstStyle/>
        <a:p>
          <a:endParaRPr lang="en-US"/>
        </a:p>
      </dgm:t>
    </dgm:pt>
    <dgm:pt modelId="{A088A8AD-6C71-4263-904C-94A7A0B34D3B}">
      <dgm:prSet/>
      <dgm:spPr/>
      <dgm:t>
        <a:bodyPr/>
        <a:lstStyle/>
        <a:p>
          <a:r>
            <a:rPr lang="en-US" b="1"/>
            <a:t>Revenue:</a:t>
          </a:r>
          <a:r>
            <a:rPr lang="en-US"/>
            <a:t> Microsoft reported that Teams contributed to their overall Office 365 revenue, which generated approximately </a:t>
          </a:r>
          <a:r>
            <a:rPr lang="en-US" b="1"/>
            <a:t>$85 billion</a:t>
          </a:r>
          <a:r>
            <a:rPr lang="en-US"/>
            <a:t> in 2023, with Teams playing a pivotal role in those earnings due to its widespread adoption amid the shift to remote/hybrid work. Exact figures specific to Teams are not always disclosed, but user growth is a key indicator of its financial impact.</a:t>
          </a:r>
        </a:p>
      </dgm:t>
    </dgm:pt>
    <dgm:pt modelId="{B096986A-A37A-45F5-AE36-9A7996030B5F}" type="parTrans" cxnId="{909A11E7-ED54-425C-824F-80C4695BA50C}">
      <dgm:prSet/>
      <dgm:spPr/>
      <dgm:t>
        <a:bodyPr/>
        <a:lstStyle/>
        <a:p>
          <a:endParaRPr lang="en-US"/>
        </a:p>
      </dgm:t>
    </dgm:pt>
    <dgm:pt modelId="{48B81D17-DA4E-46E1-AD6E-73568EFF88E5}" type="sibTrans" cxnId="{909A11E7-ED54-425C-824F-80C4695BA50C}">
      <dgm:prSet/>
      <dgm:spPr/>
      <dgm:t>
        <a:bodyPr/>
        <a:lstStyle/>
        <a:p>
          <a:endParaRPr lang="en-US"/>
        </a:p>
      </dgm:t>
    </dgm:pt>
    <dgm:pt modelId="{65A00DDC-C01E-42A0-9A3D-AAC06FB956BE}" type="pres">
      <dgm:prSet presAssocID="{99EDF4B1-410A-465C-832C-A008F2255037}" presName="linear" presStyleCnt="0">
        <dgm:presLayoutVars>
          <dgm:animLvl val="lvl"/>
          <dgm:resizeHandles val="exact"/>
        </dgm:presLayoutVars>
      </dgm:prSet>
      <dgm:spPr/>
    </dgm:pt>
    <dgm:pt modelId="{78F694E1-EAFD-4403-B70B-A32D4313186F}" type="pres">
      <dgm:prSet presAssocID="{19A3077A-DF7B-4EF3-ACD0-2845F9E90ECD}" presName="parentText" presStyleLbl="node1" presStyleIdx="0" presStyleCnt="2">
        <dgm:presLayoutVars>
          <dgm:chMax val="0"/>
          <dgm:bulletEnabled val="1"/>
        </dgm:presLayoutVars>
      </dgm:prSet>
      <dgm:spPr/>
    </dgm:pt>
    <dgm:pt modelId="{D6CE30B8-9F01-4EDF-8191-1019FEEA1AA5}" type="pres">
      <dgm:prSet presAssocID="{CCD9957C-A1EA-47A6-A593-811DD645BA20}" presName="spacer" presStyleCnt="0"/>
      <dgm:spPr/>
    </dgm:pt>
    <dgm:pt modelId="{E558CB78-99A7-4F6D-84B4-E671AE31731F}" type="pres">
      <dgm:prSet presAssocID="{A088A8AD-6C71-4263-904C-94A7A0B34D3B}" presName="parentText" presStyleLbl="node1" presStyleIdx="1" presStyleCnt="2">
        <dgm:presLayoutVars>
          <dgm:chMax val="0"/>
          <dgm:bulletEnabled val="1"/>
        </dgm:presLayoutVars>
      </dgm:prSet>
      <dgm:spPr/>
    </dgm:pt>
  </dgm:ptLst>
  <dgm:cxnLst>
    <dgm:cxn modelId="{BA4D7862-B2F3-47B4-84A1-9F96D5E8BDFF}" srcId="{99EDF4B1-410A-465C-832C-A008F2255037}" destId="{19A3077A-DF7B-4EF3-ACD0-2845F9E90ECD}" srcOrd="0" destOrd="0" parTransId="{45E6132C-011D-4649-A86E-CFAA2675D02C}" sibTransId="{CCD9957C-A1EA-47A6-A593-811DD645BA20}"/>
    <dgm:cxn modelId="{03880385-617B-4875-8C70-B751643D259F}" type="presOf" srcId="{A088A8AD-6C71-4263-904C-94A7A0B34D3B}" destId="{E558CB78-99A7-4F6D-84B4-E671AE31731F}" srcOrd="0" destOrd="0" presId="urn:microsoft.com/office/officeart/2005/8/layout/vList2"/>
    <dgm:cxn modelId="{396CC7AF-F2B3-4070-AC97-EA6126CA1DCE}" type="presOf" srcId="{19A3077A-DF7B-4EF3-ACD0-2845F9E90ECD}" destId="{78F694E1-EAFD-4403-B70B-A32D4313186F}" srcOrd="0" destOrd="0" presId="urn:microsoft.com/office/officeart/2005/8/layout/vList2"/>
    <dgm:cxn modelId="{6398CDCD-F92C-49CE-B65A-17A8312BBC39}" type="presOf" srcId="{99EDF4B1-410A-465C-832C-A008F2255037}" destId="{65A00DDC-C01E-42A0-9A3D-AAC06FB956BE}" srcOrd="0" destOrd="0" presId="urn:microsoft.com/office/officeart/2005/8/layout/vList2"/>
    <dgm:cxn modelId="{909A11E7-ED54-425C-824F-80C4695BA50C}" srcId="{99EDF4B1-410A-465C-832C-A008F2255037}" destId="{A088A8AD-6C71-4263-904C-94A7A0B34D3B}" srcOrd="1" destOrd="0" parTransId="{B096986A-A37A-45F5-AE36-9A7996030B5F}" sibTransId="{48B81D17-DA4E-46E1-AD6E-73568EFF88E5}"/>
    <dgm:cxn modelId="{88F0FC0A-54BB-4BD7-BE68-2B6361CB79E9}" type="presParOf" srcId="{65A00DDC-C01E-42A0-9A3D-AAC06FB956BE}" destId="{78F694E1-EAFD-4403-B70B-A32D4313186F}" srcOrd="0" destOrd="0" presId="urn:microsoft.com/office/officeart/2005/8/layout/vList2"/>
    <dgm:cxn modelId="{76BFE08E-9F9A-43E4-B606-69CA07BCE95A}" type="presParOf" srcId="{65A00DDC-C01E-42A0-9A3D-AAC06FB956BE}" destId="{D6CE30B8-9F01-4EDF-8191-1019FEEA1AA5}" srcOrd="1" destOrd="0" presId="urn:microsoft.com/office/officeart/2005/8/layout/vList2"/>
    <dgm:cxn modelId="{4FC93FAB-549F-4DC6-A71F-8ABA7F480C50}" type="presParOf" srcId="{65A00DDC-C01E-42A0-9A3D-AAC06FB956BE}" destId="{E558CB78-99A7-4F6D-84B4-E671AE31731F}"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1BC5CEC-D70E-4FBA-A75C-CAB5F084C073}"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78072FDD-F885-44A4-A9D6-E0238EB22796}">
      <dgm:prSet/>
      <dgm:spPr/>
      <dgm:t>
        <a:bodyPr/>
        <a:lstStyle/>
        <a:p>
          <a:r>
            <a:rPr lang="en-US" b="1"/>
            <a:t>Market Share:</a:t>
          </a:r>
          <a:r>
            <a:rPr lang="en-US"/>
            <a:t> Zoom holds a significant position in the video conferencing market, with estimates placing its market share around </a:t>
          </a:r>
          <a:r>
            <a:rPr lang="en-US" b="1"/>
            <a:t>40%</a:t>
          </a:r>
          <a:r>
            <a:rPr lang="en-US"/>
            <a:t> to </a:t>
          </a:r>
          <a:r>
            <a:rPr lang="en-US" b="1"/>
            <a:t>50%</a:t>
          </a:r>
          <a:r>
            <a:rPr lang="en-US"/>
            <a:t>. Its popularity surged during the COVID-19 pandemic.</a:t>
          </a:r>
        </a:p>
      </dgm:t>
    </dgm:pt>
    <dgm:pt modelId="{689160AB-8F56-4226-A3FE-C25D659912AE}" type="parTrans" cxnId="{E0366338-973E-4FE2-B8F5-0B8FEA55C0DB}">
      <dgm:prSet/>
      <dgm:spPr/>
      <dgm:t>
        <a:bodyPr/>
        <a:lstStyle/>
        <a:p>
          <a:endParaRPr lang="en-US"/>
        </a:p>
      </dgm:t>
    </dgm:pt>
    <dgm:pt modelId="{2F8F619F-1F9A-41E7-8742-645F7C7832B2}" type="sibTrans" cxnId="{E0366338-973E-4FE2-B8F5-0B8FEA55C0DB}">
      <dgm:prSet/>
      <dgm:spPr/>
      <dgm:t>
        <a:bodyPr/>
        <a:lstStyle/>
        <a:p>
          <a:endParaRPr lang="en-US"/>
        </a:p>
      </dgm:t>
    </dgm:pt>
    <dgm:pt modelId="{0F938C2C-32B2-420E-A06F-D2AE7B89A3FC}">
      <dgm:prSet/>
      <dgm:spPr/>
      <dgm:t>
        <a:bodyPr/>
        <a:lstStyle/>
        <a:p>
          <a:r>
            <a:rPr lang="en-US" b="1"/>
            <a:t>Revenue:</a:t>
          </a:r>
          <a:r>
            <a:rPr lang="en-US"/>
            <a:t> Zoom's revenue for the fiscal year ending January 2023 was approximately </a:t>
          </a:r>
          <a:r>
            <a:rPr lang="en-US" b="1"/>
            <a:t>$4.4 billion</a:t>
          </a:r>
          <a:r>
            <a:rPr lang="en-US"/>
            <a:t>, reflecting a continuous growth trajectory. In Q2 2023, Zoom reported about </a:t>
          </a:r>
          <a:r>
            <a:rPr lang="en-US" b="1"/>
            <a:t>$1.1 billion</a:t>
          </a:r>
          <a:r>
            <a:rPr lang="en-US"/>
            <a:t> in revenue, indicating strong demand for its communication services.</a:t>
          </a:r>
        </a:p>
      </dgm:t>
    </dgm:pt>
    <dgm:pt modelId="{E7482B2C-790D-42FC-AA9D-16970A800ACE}" type="parTrans" cxnId="{6CD42E2A-A8F2-442D-AA51-907501FFB60C}">
      <dgm:prSet/>
      <dgm:spPr/>
      <dgm:t>
        <a:bodyPr/>
        <a:lstStyle/>
        <a:p>
          <a:endParaRPr lang="en-US"/>
        </a:p>
      </dgm:t>
    </dgm:pt>
    <dgm:pt modelId="{D87B2D68-1603-45A9-966B-C958468A5513}" type="sibTrans" cxnId="{6CD42E2A-A8F2-442D-AA51-907501FFB60C}">
      <dgm:prSet/>
      <dgm:spPr/>
      <dgm:t>
        <a:bodyPr/>
        <a:lstStyle/>
        <a:p>
          <a:endParaRPr lang="en-US"/>
        </a:p>
      </dgm:t>
    </dgm:pt>
    <dgm:pt modelId="{9D43B71E-E799-482E-A1D2-EEDDD5A49FB1}" type="pres">
      <dgm:prSet presAssocID="{31BC5CEC-D70E-4FBA-A75C-CAB5F084C073}" presName="linear" presStyleCnt="0">
        <dgm:presLayoutVars>
          <dgm:animLvl val="lvl"/>
          <dgm:resizeHandles val="exact"/>
        </dgm:presLayoutVars>
      </dgm:prSet>
      <dgm:spPr/>
    </dgm:pt>
    <dgm:pt modelId="{FA84736F-9788-4170-A8BA-43C1F4CE89FB}" type="pres">
      <dgm:prSet presAssocID="{78072FDD-F885-44A4-A9D6-E0238EB22796}" presName="parentText" presStyleLbl="node1" presStyleIdx="0" presStyleCnt="2">
        <dgm:presLayoutVars>
          <dgm:chMax val="0"/>
          <dgm:bulletEnabled val="1"/>
        </dgm:presLayoutVars>
      </dgm:prSet>
      <dgm:spPr/>
    </dgm:pt>
    <dgm:pt modelId="{F6FAFA38-AB1D-497D-8F33-61A21C2FB956}" type="pres">
      <dgm:prSet presAssocID="{2F8F619F-1F9A-41E7-8742-645F7C7832B2}" presName="spacer" presStyleCnt="0"/>
      <dgm:spPr/>
    </dgm:pt>
    <dgm:pt modelId="{26141AD8-70AF-4F08-BC3C-3F905C9DF3FA}" type="pres">
      <dgm:prSet presAssocID="{0F938C2C-32B2-420E-A06F-D2AE7B89A3FC}" presName="parentText" presStyleLbl="node1" presStyleIdx="1" presStyleCnt="2">
        <dgm:presLayoutVars>
          <dgm:chMax val="0"/>
          <dgm:bulletEnabled val="1"/>
        </dgm:presLayoutVars>
      </dgm:prSet>
      <dgm:spPr/>
    </dgm:pt>
  </dgm:ptLst>
  <dgm:cxnLst>
    <dgm:cxn modelId="{6CD42E2A-A8F2-442D-AA51-907501FFB60C}" srcId="{31BC5CEC-D70E-4FBA-A75C-CAB5F084C073}" destId="{0F938C2C-32B2-420E-A06F-D2AE7B89A3FC}" srcOrd="1" destOrd="0" parTransId="{E7482B2C-790D-42FC-AA9D-16970A800ACE}" sibTransId="{D87B2D68-1603-45A9-966B-C958468A5513}"/>
    <dgm:cxn modelId="{E0366338-973E-4FE2-B8F5-0B8FEA55C0DB}" srcId="{31BC5CEC-D70E-4FBA-A75C-CAB5F084C073}" destId="{78072FDD-F885-44A4-A9D6-E0238EB22796}" srcOrd="0" destOrd="0" parTransId="{689160AB-8F56-4226-A3FE-C25D659912AE}" sibTransId="{2F8F619F-1F9A-41E7-8742-645F7C7832B2}"/>
    <dgm:cxn modelId="{7E53FF3D-5EB6-4A79-A956-D1F7BE83B62C}" type="presOf" srcId="{31BC5CEC-D70E-4FBA-A75C-CAB5F084C073}" destId="{9D43B71E-E799-482E-A1D2-EEDDD5A49FB1}" srcOrd="0" destOrd="0" presId="urn:microsoft.com/office/officeart/2005/8/layout/vList2"/>
    <dgm:cxn modelId="{CF2DD959-F637-4E85-B815-750AA875118C}" type="presOf" srcId="{78072FDD-F885-44A4-A9D6-E0238EB22796}" destId="{FA84736F-9788-4170-A8BA-43C1F4CE89FB}" srcOrd="0" destOrd="0" presId="urn:microsoft.com/office/officeart/2005/8/layout/vList2"/>
    <dgm:cxn modelId="{C390EF8B-7936-48C3-88D4-F56C45BD3AC0}" type="presOf" srcId="{0F938C2C-32B2-420E-A06F-D2AE7B89A3FC}" destId="{26141AD8-70AF-4F08-BC3C-3F905C9DF3FA}" srcOrd="0" destOrd="0" presId="urn:microsoft.com/office/officeart/2005/8/layout/vList2"/>
    <dgm:cxn modelId="{59EDC9F6-AA18-460E-95F7-FC74675BFD57}" type="presParOf" srcId="{9D43B71E-E799-482E-A1D2-EEDDD5A49FB1}" destId="{FA84736F-9788-4170-A8BA-43C1F4CE89FB}" srcOrd="0" destOrd="0" presId="urn:microsoft.com/office/officeart/2005/8/layout/vList2"/>
    <dgm:cxn modelId="{D9662361-5CDD-4CCD-9ECC-5E8445F714A5}" type="presParOf" srcId="{9D43B71E-E799-482E-A1D2-EEDDD5A49FB1}" destId="{F6FAFA38-AB1D-497D-8F33-61A21C2FB956}" srcOrd="1" destOrd="0" presId="urn:microsoft.com/office/officeart/2005/8/layout/vList2"/>
    <dgm:cxn modelId="{DA978D49-4CA8-47AE-91BC-3711A8347C5E}" type="presParOf" srcId="{9D43B71E-E799-482E-A1D2-EEDDD5A49FB1}" destId="{26141AD8-70AF-4F08-BC3C-3F905C9DF3FA}"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307B7C7-41F8-4578-B677-A1B4046B9758}"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FF342101-ACB3-4BF9-A009-B30C55366D34}">
      <dgm:prSet/>
      <dgm:spPr/>
      <dgm:t>
        <a:bodyPr/>
        <a:lstStyle/>
        <a:p>
          <a:r>
            <a:rPr lang="en-US" b="1"/>
            <a:t>Market Share:</a:t>
          </a:r>
          <a:r>
            <a:rPr lang="en-US"/>
            <a:t> Cisco Webex commands a market share of around </a:t>
          </a:r>
          <a:r>
            <a:rPr lang="en-US" b="1"/>
            <a:t>10%</a:t>
          </a:r>
          <a:r>
            <a:rPr lang="en-US"/>
            <a:t>, making it one of the key players in the business communication tools arena.</a:t>
          </a:r>
        </a:p>
      </dgm:t>
    </dgm:pt>
    <dgm:pt modelId="{D8FF8B07-459A-42E0-9D0C-C31710B8F8C8}" type="parTrans" cxnId="{E1910EF5-70F8-461F-8576-8B99CEE9F766}">
      <dgm:prSet/>
      <dgm:spPr/>
      <dgm:t>
        <a:bodyPr/>
        <a:lstStyle/>
        <a:p>
          <a:endParaRPr lang="en-US"/>
        </a:p>
      </dgm:t>
    </dgm:pt>
    <dgm:pt modelId="{161AEC1F-8E3F-4584-80CD-C2D5DE86CD1D}" type="sibTrans" cxnId="{E1910EF5-70F8-461F-8576-8B99CEE9F766}">
      <dgm:prSet/>
      <dgm:spPr/>
      <dgm:t>
        <a:bodyPr/>
        <a:lstStyle/>
        <a:p>
          <a:endParaRPr lang="en-US"/>
        </a:p>
      </dgm:t>
    </dgm:pt>
    <dgm:pt modelId="{91C19897-C75F-4394-9A2A-E406DE9068E8}">
      <dgm:prSet/>
      <dgm:spPr/>
      <dgm:t>
        <a:bodyPr/>
        <a:lstStyle/>
        <a:p>
          <a:r>
            <a:rPr lang="en-US" b="1"/>
            <a:t>Revenue:</a:t>
          </a:r>
          <a:r>
            <a:rPr lang="en-US"/>
            <a:t> Although Cisco does not break down revenue by its specific services, in 2023, the company reported total revenues of about </a:t>
          </a:r>
          <a:r>
            <a:rPr lang="en-US" b="1"/>
            <a:t>$14.5 billion</a:t>
          </a:r>
          <a:r>
            <a:rPr lang="en-US"/>
            <a:t>, with Webex as a significant contributor, particularly emphasized during their strategic push towards hybrid work solutions.</a:t>
          </a:r>
        </a:p>
      </dgm:t>
    </dgm:pt>
    <dgm:pt modelId="{F240E17E-0C82-4931-A043-88D9173AB108}" type="parTrans" cxnId="{C073E7B0-8B31-4AF1-83B1-7CC23A8CF20F}">
      <dgm:prSet/>
      <dgm:spPr/>
      <dgm:t>
        <a:bodyPr/>
        <a:lstStyle/>
        <a:p>
          <a:endParaRPr lang="en-US"/>
        </a:p>
      </dgm:t>
    </dgm:pt>
    <dgm:pt modelId="{EC2AFDDD-434C-4446-80E0-AB4867F8AF64}" type="sibTrans" cxnId="{C073E7B0-8B31-4AF1-83B1-7CC23A8CF20F}">
      <dgm:prSet/>
      <dgm:spPr/>
      <dgm:t>
        <a:bodyPr/>
        <a:lstStyle/>
        <a:p>
          <a:endParaRPr lang="en-US"/>
        </a:p>
      </dgm:t>
    </dgm:pt>
    <dgm:pt modelId="{D7CAB25C-2B71-4010-970C-F5D2395AED45}" type="pres">
      <dgm:prSet presAssocID="{5307B7C7-41F8-4578-B677-A1B4046B9758}" presName="linear" presStyleCnt="0">
        <dgm:presLayoutVars>
          <dgm:animLvl val="lvl"/>
          <dgm:resizeHandles val="exact"/>
        </dgm:presLayoutVars>
      </dgm:prSet>
      <dgm:spPr/>
    </dgm:pt>
    <dgm:pt modelId="{062A243B-CB58-4468-9D17-70C9CA4F0991}" type="pres">
      <dgm:prSet presAssocID="{FF342101-ACB3-4BF9-A009-B30C55366D34}" presName="parentText" presStyleLbl="node1" presStyleIdx="0" presStyleCnt="2">
        <dgm:presLayoutVars>
          <dgm:chMax val="0"/>
          <dgm:bulletEnabled val="1"/>
        </dgm:presLayoutVars>
      </dgm:prSet>
      <dgm:spPr/>
    </dgm:pt>
    <dgm:pt modelId="{2BD85AB5-47A9-4F91-BCD6-EF062FAC5A67}" type="pres">
      <dgm:prSet presAssocID="{161AEC1F-8E3F-4584-80CD-C2D5DE86CD1D}" presName="spacer" presStyleCnt="0"/>
      <dgm:spPr/>
    </dgm:pt>
    <dgm:pt modelId="{637A97F3-1EB5-4675-AB0D-C5221C83E7DA}" type="pres">
      <dgm:prSet presAssocID="{91C19897-C75F-4394-9A2A-E406DE9068E8}" presName="parentText" presStyleLbl="node1" presStyleIdx="1" presStyleCnt="2">
        <dgm:presLayoutVars>
          <dgm:chMax val="0"/>
          <dgm:bulletEnabled val="1"/>
        </dgm:presLayoutVars>
      </dgm:prSet>
      <dgm:spPr/>
    </dgm:pt>
  </dgm:ptLst>
  <dgm:cxnLst>
    <dgm:cxn modelId="{D067D221-4DAC-4101-A18F-67700F37BF6D}" type="presOf" srcId="{FF342101-ACB3-4BF9-A009-B30C55366D34}" destId="{062A243B-CB58-4468-9D17-70C9CA4F0991}" srcOrd="0" destOrd="0" presId="urn:microsoft.com/office/officeart/2005/8/layout/vList2"/>
    <dgm:cxn modelId="{E01E462C-35F1-4E28-865B-C9A4167D2372}" type="presOf" srcId="{91C19897-C75F-4394-9A2A-E406DE9068E8}" destId="{637A97F3-1EB5-4675-AB0D-C5221C83E7DA}" srcOrd="0" destOrd="0" presId="urn:microsoft.com/office/officeart/2005/8/layout/vList2"/>
    <dgm:cxn modelId="{63B88E93-6464-43A2-AAEC-E774E56D9301}" type="presOf" srcId="{5307B7C7-41F8-4578-B677-A1B4046B9758}" destId="{D7CAB25C-2B71-4010-970C-F5D2395AED45}" srcOrd="0" destOrd="0" presId="urn:microsoft.com/office/officeart/2005/8/layout/vList2"/>
    <dgm:cxn modelId="{C073E7B0-8B31-4AF1-83B1-7CC23A8CF20F}" srcId="{5307B7C7-41F8-4578-B677-A1B4046B9758}" destId="{91C19897-C75F-4394-9A2A-E406DE9068E8}" srcOrd="1" destOrd="0" parTransId="{F240E17E-0C82-4931-A043-88D9173AB108}" sibTransId="{EC2AFDDD-434C-4446-80E0-AB4867F8AF64}"/>
    <dgm:cxn modelId="{E1910EF5-70F8-461F-8576-8B99CEE9F766}" srcId="{5307B7C7-41F8-4578-B677-A1B4046B9758}" destId="{FF342101-ACB3-4BF9-A009-B30C55366D34}" srcOrd="0" destOrd="0" parTransId="{D8FF8B07-459A-42E0-9D0C-C31710B8F8C8}" sibTransId="{161AEC1F-8E3F-4584-80CD-C2D5DE86CD1D}"/>
    <dgm:cxn modelId="{471E751F-5228-4E82-B498-4FF0580F1099}" type="presParOf" srcId="{D7CAB25C-2B71-4010-970C-F5D2395AED45}" destId="{062A243B-CB58-4468-9D17-70C9CA4F0991}" srcOrd="0" destOrd="0" presId="urn:microsoft.com/office/officeart/2005/8/layout/vList2"/>
    <dgm:cxn modelId="{A7602199-17D9-47BE-AE8C-06BD9D2D36C2}" type="presParOf" srcId="{D7CAB25C-2B71-4010-970C-F5D2395AED45}" destId="{2BD85AB5-47A9-4F91-BCD6-EF062FAC5A67}" srcOrd="1" destOrd="0" presId="urn:microsoft.com/office/officeart/2005/8/layout/vList2"/>
    <dgm:cxn modelId="{023291FD-64BA-4657-873B-7D837815E04E}" type="presParOf" srcId="{D7CAB25C-2B71-4010-970C-F5D2395AED45}" destId="{637A97F3-1EB5-4675-AB0D-C5221C83E7DA}"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5FC0AC4-F52E-42AE-B9F7-48D55761FA84}"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38B6AB00-9C2E-4CF1-A3B2-9A2EFDD5B929}">
      <dgm:prSet/>
      <dgm:spPr/>
      <dgm:t>
        <a:bodyPr/>
        <a:lstStyle/>
        <a:p>
          <a:pPr>
            <a:lnSpc>
              <a:spcPct val="100000"/>
            </a:lnSpc>
          </a:pPr>
          <a:r>
            <a:rPr lang="en-US" b="1"/>
            <a:t>Slack:</a:t>
          </a:r>
          <a:r>
            <a:rPr lang="en-US"/>
            <a:t> Acquired by Salesforce in July 2021, Slack had around a </a:t>
          </a:r>
          <a:r>
            <a:rPr lang="en-US" b="1"/>
            <a:t>7% to 8%</a:t>
          </a:r>
          <a:r>
            <a:rPr lang="en-US"/>
            <a:t> market share in team collaboration tools as of early 2023. Its financial specifics are detailed within Salesforce's broader financial reporting.</a:t>
          </a:r>
        </a:p>
      </dgm:t>
    </dgm:pt>
    <dgm:pt modelId="{8C77E8B8-878B-4BA1-A557-10F0D8BE2ED9}" type="parTrans" cxnId="{A3B67025-71F9-4F49-8455-40656BCB585E}">
      <dgm:prSet/>
      <dgm:spPr/>
      <dgm:t>
        <a:bodyPr/>
        <a:lstStyle/>
        <a:p>
          <a:endParaRPr lang="en-US"/>
        </a:p>
      </dgm:t>
    </dgm:pt>
    <dgm:pt modelId="{A3B9E46A-4DBC-4B9D-A7C0-8B8232DE77C2}" type="sibTrans" cxnId="{A3B67025-71F9-4F49-8455-40656BCB585E}">
      <dgm:prSet/>
      <dgm:spPr/>
      <dgm:t>
        <a:bodyPr/>
        <a:lstStyle/>
        <a:p>
          <a:pPr>
            <a:lnSpc>
              <a:spcPct val="100000"/>
            </a:lnSpc>
          </a:pPr>
          <a:endParaRPr lang="en-US"/>
        </a:p>
      </dgm:t>
    </dgm:pt>
    <dgm:pt modelId="{FE75E10A-FB26-43EA-B4CC-478D57BEA187}">
      <dgm:prSet/>
      <dgm:spPr/>
      <dgm:t>
        <a:bodyPr/>
        <a:lstStyle/>
        <a:p>
          <a:pPr>
            <a:lnSpc>
              <a:spcPct val="100000"/>
            </a:lnSpc>
          </a:pPr>
          <a:r>
            <a:rPr lang="en-US" b="1"/>
            <a:t>RingCentral:</a:t>
          </a:r>
          <a:r>
            <a:rPr lang="en-US"/>
            <a:t> RingCentral holds about </a:t>
          </a:r>
          <a:r>
            <a:rPr lang="en-US" b="1"/>
            <a:t>5% of the market share</a:t>
          </a:r>
          <a:r>
            <a:rPr lang="en-US"/>
            <a:t> in business communication and collaboration services, generating </a:t>
          </a:r>
          <a:r>
            <a:rPr lang="en-US" b="1"/>
            <a:t>$1.8 billion in revenue</a:t>
          </a:r>
          <a:r>
            <a:rPr lang="en-US"/>
            <a:t> for the fiscal year 2022.</a:t>
          </a:r>
        </a:p>
      </dgm:t>
    </dgm:pt>
    <dgm:pt modelId="{2862D9E9-9340-4D9C-957A-7CF657C5FC93}" type="parTrans" cxnId="{27A9D539-4D39-47B3-A31D-36600F03910A}">
      <dgm:prSet/>
      <dgm:spPr/>
      <dgm:t>
        <a:bodyPr/>
        <a:lstStyle/>
        <a:p>
          <a:endParaRPr lang="en-US"/>
        </a:p>
      </dgm:t>
    </dgm:pt>
    <dgm:pt modelId="{8C039ADB-966F-4E53-B74F-A8E0D8A494EA}" type="sibTrans" cxnId="{27A9D539-4D39-47B3-A31D-36600F03910A}">
      <dgm:prSet/>
      <dgm:spPr/>
      <dgm:t>
        <a:bodyPr/>
        <a:lstStyle/>
        <a:p>
          <a:endParaRPr lang="en-US"/>
        </a:p>
      </dgm:t>
    </dgm:pt>
    <dgm:pt modelId="{BA29B065-34A3-46CA-8517-CFAC5AA4CE1C}" type="pres">
      <dgm:prSet presAssocID="{A5FC0AC4-F52E-42AE-B9F7-48D55761FA84}" presName="root" presStyleCnt="0">
        <dgm:presLayoutVars>
          <dgm:dir/>
          <dgm:resizeHandles val="exact"/>
        </dgm:presLayoutVars>
      </dgm:prSet>
      <dgm:spPr/>
    </dgm:pt>
    <dgm:pt modelId="{36F0E670-7E64-4E8C-83D1-BB0967E9BFE8}" type="pres">
      <dgm:prSet presAssocID="{A5FC0AC4-F52E-42AE-B9F7-48D55761FA84}" presName="container" presStyleCnt="0">
        <dgm:presLayoutVars>
          <dgm:dir/>
          <dgm:resizeHandles val="exact"/>
        </dgm:presLayoutVars>
      </dgm:prSet>
      <dgm:spPr/>
    </dgm:pt>
    <dgm:pt modelId="{2F33AC47-0282-40EE-93A9-3917D681C225}" type="pres">
      <dgm:prSet presAssocID="{38B6AB00-9C2E-4CF1-A3B2-9A2EFDD5B929}" presName="compNode" presStyleCnt="0"/>
      <dgm:spPr/>
    </dgm:pt>
    <dgm:pt modelId="{3A88346A-F7C3-44A0-93D4-81996BCCF1A1}" type="pres">
      <dgm:prSet presAssocID="{38B6AB00-9C2E-4CF1-A3B2-9A2EFDD5B929}" presName="iconBgRect" presStyleLbl="bgShp" presStyleIdx="0" presStyleCnt="2"/>
      <dgm:spPr/>
    </dgm:pt>
    <dgm:pt modelId="{7FAD2357-F51F-4D45-B88E-CC87E0CA8A42}" type="pres">
      <dgm:prSet presAssocID="{38B6AB00-9C2E-4CF1-A3B2-9A2EFDD5B92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hare"/>
        </a:ext>
      </dgm:extLst>
    </dgm:pt>
    <dgm:pt modelId="{661FECFC-72C7-483C-BE88-2AD63E05C7F1}" type="pres">
      <dgm:prSet presAssocID="{38B6AB00-9C2E-4CF1-A3B2-9A2EFDD5B929}" presName="spaceRect" presStyleCnt="0"/>
      <dgm:spPr/>
    </dgm:pt>
    <dgm:pt modelId="{12B4911D-265B-4B86-B3E2-2A9A884BB877}" type="pres">
      <dgm:prSet presAssocID="{38B6AB00-9C2E-4CF1-A3B2-9A2EFDD5B929}" presName="textRect" presStyleLbl="revTx" presStyleIdx="0" presStyleCnt="2">
        <dgm:presLayoutVars>
          <dgm:chMax val="1"/>
          <dgm:chPref val="1"/>
        </dgm:presLayoutVars>
      </dgm:prSet>
      <dgm:spPr/>
    </dgm:pt>
    <dgm:pt modelId="{496D6783-C881-4477-8928-A2DCDDF29817}" type="pres">
      <dgm:prSet presAssocID="{A3B9E46A-4DBC-4B9D-A7C0-8B8232DE77C2}" presName="sibTrans" presStyleLbl="sibTrans2D1" presStyleIdx="0" presStyleCnt="0"/>
      <dgm:spPr/>
    </dgm:pt>
    <dgm:pt modelId="{D241B66F-3083-4B94-A510-B6E64297ED2B}" type="pres">
      <dgm:prSet presAssocID="{FE75E10A-FB26-43EA-B4CC-478D57BEA187}" presName="compNode" presStyleCnt="0"/>
      <dgm:spPr/>
    </dgm:pt>
    <dgm:pt modelId="{DAAA1822-CA11-466F-9A55-07D4E794FD66}" type="pres">
      <dgm:prSet presAssocID="{FE75E10A-FB26-43EA-B4CC-478D57BEA187}" presName="iconBgRect" presStyleLbl="bgShp" presStyleIdx="1" presStyleCnt="2"/>
      <dgm:spPr/>
    </dgm:pt>
    <dgm:pt modelId="{748EA194-3340-4D8D-AC2F-B0157E6171BE}" type="pres">
      <dgm:prSet presAssocID="{FE75E10A-FB26-43EA-B4CC-478D57BEA187}"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itcoin"/>
        </a:ext>
      </dgm:extLst>
    </dgm:pt>
    <dgm:pt modelId="{7773DBF0-B8A5-4407-80BA-02DBE173E94D}" type="pres">
      <dgm:prSet presAssocID="{FE75E10A-FB26-43EA-B4CC-478D57BEA187}" presName="spaceRect" presStyleCnt="0"/>
      <dgm:spPr/>
    </dgm:pt>
    <dgm:pt modelId="{CE14DC60-FB25-457F-A93A-4C45154DDA61}" type="pres">
      <dgm:prSet presAssocID="{FE75E10A-FB26-43EA-B4CC-478D57BEA187}" presName="textRect" presStyleLbl="revTx" presStyleIdx="1" presStyleCnt="2">
        <dgm:presLayoutVars>
          <dgm:chMax val="1"/>
          <dgm:chPref val="1"/>
        </dgm:presLayoutVars>
      </dgm:prSet>
      <dgm:spPr/>
    </dgm:pt>
  </dgm:ptLst>
  <dgm:cxnLst>
    <dgm:cxn modelId="{A3B67025-71F9-4F49-8455-40656BCB585E}" srcId="{A5FC0AC4-F52E-42AE-B9F7-48D55761FA84}" destId="{38B6AB00-9C2E-4CF1-A3B2-9A2EFDD5B929}" srcOrd="0" destOrd="0" parTransId="{8C77E8B8-878B-4BA1-A557-10F0D8BE2ED9}" sibTransId="{A3B9E46A-4DBC-4B9D-A7C0-8B8232DE77C2}"/>
    <dgm:cxn modelId="{27A9D539-4D39-47B3-A31D-36600F03910A}" srcId="{A5FC0AC4-F52E-42AE-B9F7-48D55761FA84}" destId="{FE75E10A-FB26-43EA-B4CC-478D57BEA187}" srcOrd="1" destOrd="0" parTransId="{2862D9E9-9340-4D9C-957A-7CF657C5FC93}" sibTransId="{8C039ADB-966F-4E53-B74F-A8E0D8A494EA}"/>
    <dgm:cxn modelId="{E3F5635E-3B1A-41EB-9879-4AE62AC74E95}" type="presOf" srcId="{FE75E10A-FB26-43EA-B4CC-478D57BEA187}" destId="{CE14DC60-FB25-457F-A93A-4C45154DDA61}" srcOrd="0" destOrd="0" presId="urn:microsoft.com/office/officeart/2018/2/layout/IconCircleList"/>
    <dgm:cxn modelId="{8FD2AF53-13C7-4A67-B910-0799CA380971}" type="presOf" srcId="{38B6AB00-9C2E-4CF1-A3B2-9A2EFDD5B929}" destId="{12B4911D-265B-4B86-B3E2-2A9A884BB877}" srcOrd="0" destOrd="0" presId="urn:microsoft.com/office/officeart/2018/2/layout/IconCircleList"/>
    <dgm:cxn modelId="{ADFD5187-7647-48A5-9039-6D9F94DD8661}" type="presOf" srcId="{A3B9E46A-4DBC-4B9D-A7C0-8B8232DE77C2}" destId="{496D6783-C881-4477-8928-A2DCDDF29817}" srcOrd="0" destOrd="0" presId="urn:microsoft.com/office/officeart/2018/2/layout/IconCircleList"/>
    <dgm:cxn modelId="{06F2A9CC-0B78-49B7-94F5-09F3BD4C2371}" type="presOf" srcId="{A5FC0AC4-F52E-42AE-B9F7-48D55761FA84}" destId="{BA29B065-34A3-46CA-8517-CFAC5AA4CE1C}" srcOrd="0" destOrd="0" presId="urn:microsoft.com/office/officeart/2018/2/layout/IconCircleList"/>
    <dgm:cxn modelId="{4754DC82-F0FA-4A35-AA0B-8B85578A70C7}" type="presParOf" srcId="{BA29B065-34A3-46CA-8517-CFAC5AA4CE1C}" destId="{36F0E670-7E64-4E8C-83D1-BB0967E9BFE8}" srcOrd="0" destOrd="0" presId="urn:microsoft.com/office/officeart/2018/2/layout/IconCircleList"/>
    <dgm:cxn modelId="{47343F81-4223-4900-8A5D-06452474B8D2}" type="presParOf" srcId="{36F0E670-7E64-4E8C-83D1-BB0967E9BFE8}" destId="{2F33AC47-0282-40EE-93A9-3917D681C225}" srcOrd="0" destOrd="0" presId="urn:microsoft.com/office/officeart/2018/2/layout/IconCircleList"/>
    <dgm:cxn modelId="{98D32B76-45F2-47DA-BBA3-0B3CD0672EF5}" type="presParOf" srcId="{2F33AC47-0282-40EE-93A9-3917D681C225}" destId="{3A88346A-F7C3-44A0-93D4-81996BCCF1A1}" srcOrd="0" destOrd="0" presId="urn:microsoft.com/office/officeart/2018/2/layout/IconCircleList"/>
    <dgm:cxn modelId="{B9010A91-377D-43FC-8D43-24BA936A0ADB}" type="presParOf" srcId="{2F33AC47-0282-40EE-93A9-3917D681C225}" destId="{7FAD2357-F51F-4D45-B88E-CC87E0CA8A42}" srcOrd="1" destOrd="0" presId="urn:microsoft.com/office/officeart/2018/2/layout/IconCircleList"/>
    <dgm:cxn modelId="{4F257AA5-ED92-4E5B-B78E-33570259E2B1}" type="presParOf" srcId="{2F33AC47-0282-40EE-93A9-3917D681C225}" destId="{661FECFC-72C7-483C-BE88-2AD63E05C7F1}" srcOrd="2" destOrd="0" presId="urn:microsoft.com/office/officeart/2018/2/layout/IconCircleList"/>
    <dgm:cxn modelId="{7D654FC7-A7F7-4AF9-9D71-DE86536319F5}" type="presParOf" srcId="{2F33AC47-0282-40EE-93A9-3917D681C225}" destId="{12B4911D-265B-4B86-B3E2-2A9A884BB877}" srcOrd="3" destOrd="0" presId="urn:microsoft.com/office/officeart/2018/2/layout/IconCircleList"/>
    <dgm:cxn modelId="{07037EB6-2238-403B-80AB-45D03CE82841}" type="presParOf" srcId="{36F0E670-7E64-4E8C-83D1-BB0967E9BFE8}" destId="{496D6783-C881-4477-8928-A2DCDDF29817}" srcOrd="1" destOrd="0" presId="urn:microsoft.com/office/officeart/2018/2/layout/IconCircleList"/>
    <dgm:cxn modelId="{500A0B58-CF82-4A8B-87DB-F975202D44EB}" type="presParOf" srcId="{36F0E670-7E64-4E8C-83D1-BB0967E9BFE8}" destId="{D241B66F-3083-4B94-A510-B6E64297ED2B}" srcOrd="2" destOrd="0" presId="urn:microsoft.com/office/officeart/2018/2/layout/IconCircleList"/>
    <dgm:cxn modelId="{D923F1B1-D1E8-455A-A5E1-6E139A93AE04}" type="presParOf" srcId="{D241B66F-3083-4B94-A510-B6E64297ED2B}" destId="{DAAA1822-CA11-466F-9A55-07D4E794FD66}" srcOrd="0" destOrd="0" presId="urn:microsoft.com/office/officeart/2018/2/layout/IconCircleList"/>
    <dgm:cxn modelId="{89C6652A-D9D1-42EC-900D-4CD3EC91FD49}" type="presParOf" srcId="{D241B66F-3083-4B94-A510-B6E64297ED2B}" destId="{748EA194-3340-4D8D-AC2F-B0157E6171BE}" srcOrd="1" destOrd="0" presId="urn:microsoft.com/office/officeart/2018/2/layout/IconCircleList"/>
    <dgm:cxn modelId="{E36799EF-E9C4-44DE-970E-18656FB64333}" type="presParOf" srcId="{D241B66F-3083-4B94-A510-B6E64297ED2B}" destId="{7773DBF0-B8A5-4407-80BA-02DBE173E94D}" srcOrd="2" destOrd="0" presId="urn:microsoft.com/office/officeart/2018/2/layout/IconCircleList"/>
    <dgm:cxn modelId="{93946916-9124-4420-9294-10EDFA7F06DE}" type="presParOf" srcId="{D241B66F-3083-4B94-A510-B6E64297ED2B}" destId="{CE14DC60-FB25-457F-A93A-4C45154DDA61}"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8AEC65-3084-401B-95F2-C51DC5B1093D}">
      <dsp:nvSpPr>
        <dsp:cNvPr id="0" name=""/>
        <dsp:cNvSpPr/>
      </dsp:nvSpPr>
      <dsp:spPr>
        <a:xfrm>
          <a:off x="8181" y="716566"/>
          <a:ext cx="2188795" cy="656638"/>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2964" tIns="172964" rIns="172964" bIns="172964" numCol="1" spcCol="1270" anchor="ctr" anchorCtr="0">
          <a:noAutofit/>
        </a:bodyPr>
        <a:lstStyle/>
        <a:p>
          <a:pPr marL="0" lvl="0" indent="0" algn="ctr" defTabSz="977900">
            <a:lnSpc>
              <a:spcPct val="90000"/>
            </a:lnSpc>
            <a:spcBef>
              <a:spcPct val="0"/>
            </a:spcBef>
            <a:spcAft>
              <a:spcPct val="35000"/>
            </a:spcAft>
            <a:buNone/>
          </a:pPr>
          <a:r>
            <a:rPr lang="en-US" sz="2200" kern="1200"/>
            <a:t>Enhancing</a:t>
          </a:r>
        </a:p>
      </dsp:txBody>
      <dsp:txXfrm>
        <a:off x="8181" y="716566"/>
        <a:ext cx="2188795" cy="656638"/>
      </dsp:txXfrm>
    </dsp:sp>
    <dsp:sp modelId="{9EF375BC-16C2-41E0-B2C4-88D69B71C3BC}">
      <dsp:nvSpPr>
        <dsp:cNvPr id="0" name=""/>
        <dsp:cNvSpPr/>
      </dsp:nvSpPr>
      <dsp:spPr>
        <a:xfrm>
          <a:off x="8181" y="1373205"/>
          <a:ext cx="2188795" cy="1615444"/>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16204" tIns="216204" rIns="216204" bIns="216204" numCol="1" spcCol="1270" anchor="t" anchorCtr="0">
          <a:noAutofit/>
        </a:bodyPr>
        <a:lstStyle/>
        <a:p>
          <a:pPr marL="0" lvl="0" indent="0" algn="l" defTabSz="755650">
            <a:lnSpc>
              <a:spcPct val="90000"/>
            </a:lnSpc>
            <a:spcBef>
              <a:spcPct val="0"/>
            </a:spcBef>
            <a:spcAft>
              <a:spcPct val="35000"/>
            </a:spcAft>
            <a:buNone/>
          </a:pPr>
          <a:r>
            <a:rPr lang="en-US" sz="1700" kern="1200"/>
            <a:t>Enhancing Collaboration: </a:t>
          </a:r>
        </a:p>
        <a:p>
          <a:pPr marL="114300" lvl="1" indent="-114300" algn="l" defTabSz="577850">
            <a:lnSpc>
              <a:spcPct val="90000"/>
            </a:lnSpc>
            <a:spcBef>
              <a:spcPct val="0"/>
            </a:spcBef>
            <a:spcAft>
              <a:spcPct val="15000"/>
            </a:spcAft>
            <a:buChar char="•"/>
          </a:pPr>
          <a:r>
            <a:rPr lang="en-US" sz="1300" kern="1200"/>
            <a:t>Real-time teamwork regardless of location.</a:t>
          </a:r>
        </a:p>
      </dsp:txBody>
      <dsp:txXfrm>
        <a:off x="8181" y="1373205"/>
        <a:ext cx="2188795" cy="1615444"/>
      </dsp:txXfrm>
    </dsp:sp>
    <dsp:sp modelId="{725167C3-D77E-4B11-B311-6489D33A5DB9}">
      <dsp:nvSpPr>
        <dsp:cNvPr id="0" name=""/>
        <dsp:cNvSpPr/>
      </dsp:nvSpPr>
      <dsp:spPr>
        <a:xfrm>
          <a:off x="2304871" y="716566"/>
          <a:ext cx="2188795" cy="656638"/>
        </a:xfrm>
        <a:prstGeom prst="rect">
          <a:avLst/>
        </a:prstGeom>
        <a:solidFill>
          <a:schemeClr val="accent2">
            <a:hueOff val="3221807"/>
            <a:satOff val="-9246"/>
            <a:lumOff val="-14805"/>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2964" tIns="172964" rIns="172964" bIns="172964" numCol="1" spcCol="1270" anchor="ctr" anchorCtr="0">
          <a:noAutofit/>
        </a:bodyPr>
        <a:lstStyle/>
        <a:p>
          <a:pPr marL="0" lvl="0" indent="0" algn="ctr" defTabSz="977900">
            <a:lnSpc>
              <a:spcPct val="90000"/>
            </a:lnSpc>
            <a:spcBef>
              <a:spcPct val="0"/>
            </a:spcBef>
            <a:spcAft>
              <a:spcPct val="35000"/>
            </a:spcAft>
            <a:buNone/>
          </a:pPr>
          <a:r>
            <a:rPr lang="en-US" sz="2200" kern="1200"/>
            <a:t>Increasing</a:t>
          </a:r>
        </a:p>
      </dsp:txBody>
      <dsp:txXfrm>
        <a:off x="2304871" y="716566"/>
        <a:ext cx="2188795" cy="656638"/>
      </dsp:txXfrm>
    </dsp:sp>
    <dsp:sp modelId="{77D548A5-EF80-47F6-8CEB-D544AE056B6B}">
      <dsp:nvSpPr>
        <dsp:cNvPr id="0" name=""/>
        <dsp:cNvSpPr/>
      </dsp:nvSpPr>
      <dsp:spPr>
        <a:xfrm>
          <a:off x="2304871" y="1373205"/>
          <a:ext cx="2188795" cy="1615444"/>
        </a:xfrm>
        <a:prstGeom prst="rect">
          <a:avLst/>
        </a:prstGeom>
        <a:solidFill>
          <a:schemeClr val="accent2">
            <a:tint val="40000"/>
            <a:alpha val="90000"/>
            <a:hueOff val="3367359"/>
            <a:satOff val="-31116"/>
            <a:lumOff val="-3508"/>
            <a:alphaOff val="0"/>
          </a:schemeClr>
        </a:solidFill>
        <a:ln w="19050" cap="flat" cmpd="sng" algn="ctr">
          <a:solidFill>
            <a:schemeClr val="accent2">
              <a:tint val="40000"/>
              <a:alpha val="90000"/>
              <a:hueOff val="3367359"/>
              <a:satOff val="-31116"/>
              <a:lumOff val="-350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16204" tIns="216204" rIns="216204" bIns="216204" numCol="1" spcCol="1270" anchor="t" anchorCtr="0">
          <a:noAutofit/>
        </a:bodyPr>
        <a:lstStyle/>
        <a:p>
          <a:pPr marL="0" lvl="0" indent="0" algn="l" defTabSz="755650">
            <a:lnSpc>
              <a:spcPct val="90000"/>
            </a:lnSpc>
            <a:spcBef>
              <a:spcPct val="0"/>
            </a:spcBef>
            <a:spcAft>
              <a:spcPct val="35000"/>
            </a:spcAft>
            <a:buNone/>
          </a:pPr>
          <a:r>
            <a:rPr lang="en-US" sz="1700" kern="1200"/>
            <a:t>Increasing Efficiency: </a:t>
          </a:r>
        </a:p>
        <a:p>
          <a:pPr marL="114300" lvl="1" indent="-114300" algn="l" defTabSz="577850">
            <a:lnSpc>
              <a:spcPct val="90000"/>
            </a:lnSpc>
            <a:spcBef>
              <a:spcPct val="0"/>
            </a:spcBef>
            <a:spcAft>
              <a:spcPct val="15000"/>
            </a:spcAft>
            <a:buChar char="•"/>
          </a:pPr>
          <a:r>
            <a:rPr lang="en-US" sz="1300" kern="1200"/>
            <a:t>Streamlined workflows and reduced time on tasks.</a:t>
          </a:r>
        </a:p>
      </dsp:txBody>
      <dsp:txXfrm>
        <a:off x="2304871" y="1373205"/>
        <a:ext cx="2188795" cy="1615444"/>
      </dsp:txXfrm>
    </dsp:sp>
    <dsp:sp modelId="{C19C4125-CA4E-4A92-BC6B-310187999193}">
      <dsp:nvSpPr>
        <dsp:cNvPr id="0" name=""/>
        <dsp:cNvSpPr/>
      </dsp:nvSpPr>
      <dsp:spPr>
        <a:xfrm>
          <a:off x="4601561" y="716566"/>
          <a:ext cx="2188795" cy="656638"/>
        </a:xfrm>
        <a:prstGeom prst="rect">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2964" tIns="172964" rIns="172964" bIns="172964" numCol="1" spcCol="1270" anchor="ctr" anchorCtr="0">
          <a:noAutofit/>
        </a:bodyPr>
        <a:lstStyle/>
        <a:p>
          <a:pPr marL="0" lvl="0" indent="0" algn="ctr" defTabSz="977900">
            <a:lnSpc>
              <a:spcPct val="90000"/>
            </a:lnSpc>
            <a:spcBef>
              <a:spcPct val="0"/>
            </a:spcBef>
            <a:spcAft>
              <a:spcPct val="35000"/>
            </a:spcAft>
            <a:buNone/>
          </a:pPr>
          <a:r>
            <a:rPr lang="en-US" sz="2200" kern="1200"/>
            <a:t>Improving</a:t>
          </a:r>
        </a:p>
      </dsp:txBody>
      <dsp:txXfrm>
        <a:off x="4601561" y="716566"/>
        <a:ext cx="2188795" cy="656638"/>
      </dsp:txXfrm>
    </dsp:sp>
    <dsp:sp modelId="{B755D8F0-7779-427D-B902-72696E3F207E}">
      <dsp:nvSpPr>
        <dsp:cNvPr id="0" name=""/>
        <dsp:cNvSpPr/>
      </dsp:nvSpPr>
      <dsp:spPr>
        <a:xfrm>
          <a:off x="4601561" y="1373205"/>
          <a:ext cx="2188795" cy="1615444"/>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16204" tIns="216204" rIns="216204" bIns="216204" numCol="1" spcCol="1270" anchor="t" anchorCtr="0">
          <a:noAutofit/>
        </a:bodyPr>
        <a:lstStyle/>
        <a:p>
          <a:pPr marL="0" lvl="0" indent="0" algn="l" defTabSz="755650">
            <a:lnSpc>
              <a:spcPct val="90000"/>
            </a:lnSpc>
            <a:spcBef>
              <a:spcPct val="0"/>
            </a:spcBef>
            <a:spcAft>
              <a:spcPct val="35000"/>
            </a:spcAft>
            <a:buNone/>
          </a:pPr>
          <a:r>
            <a:rPr lang="en-US" sz="1700" kern="1200"/>
            <a:t>Improving Employee Engagement: </a:t>
          </a:r>
        </a:p>
        <a:p>
          <a:pPr marL="114300" lvl="1" indent="-114300" algn="l" defTabSz="577850">
            <a:lnSpc>
              <a:spcPct val="90000"/>
            </a:lnSpc>
            <a:spcBef>
              <a:spcPct val="0"/>
            </a:spcBef>
            <a:spcAft>
              <a:spcPct val="15000"/>
            </a:spcAft>
            <a:buChar char="•"/>
          </a:pPr>
          <a:r>
            <a:rPr lang="en-US" sz="1300" kern="1200"/>
            <a:t>Fostering a sense of community.</a:t>
          </a:r>
        </a:p>
      </dsp:txBody>
      <dsp:txXfrm>
        <a:off x="4601561" y="1373205"/>
        <a:ext cx="2188795" cy="16154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E14522-8C50-4946-9AC8-BC3F4D333C3A}">
      <dsp:nvSpPr>
        <dsp:cNvPr id="0" name=""/>
        <dsp:cNvSpPr/>
      </dsp:nvSpPr>
      <dsp:spPr>
        <a:xfrm>
          <a:off x="5750" y="225824"/>
          <a:ext cx="3339571" cy="1001871"/>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3900" tIns="263900" rIns="263900" bIns="263900" numCol="1" spcCol="1270" anchor="ctr" anchorCtr="0">
          <a:noAutofit/>
        </a:bodyPr>
        <a:lstStyle/>
        <a:p>
          <a:pPr marL="0" lvl="0" indent="0" algn="ctr" defTabSz="1466850">
            <a:lnSpc>
              <a:spcPct val="90000"/>
            </a:lnSpc>
            <a:spcBef>
              <a:spcPct val="0"/>
            </a:spcBef>
            <a:spcAft>
              <a:spcPct val="35000"/>
            </a:spcAft>
            <a:buNone/>
          </a:pPr>
          <a:r>
            <a:rPr lang="en-US" sz="3300" kern="1200"/>
            <a:t>Facilitating</a:t>
          </a:r>
        </a:p>
      </dsp:txBody>
      <dsp:txXfrm>
        <a:off x="5750" y="225824"/>
        <a:ext cx="3339571" cy="1001871"/>
      </dsp:txXfrm>
    </dsp:sp>
    <dsp:sp modelId="{2CE2639B-8B5F-4B03-A786-B3FB9A26B2BB}">
      <dsp:nvSpPr>
        <dsp:cNvPr id="0" name=""/>
        <dsp:cNvSpPr/>
      </dsp:nvSpPr>
      <dsp:spPr>
        <a:xfrm>
          <a:off x="5750" y="1227696"/>
          <a:ext cx="3339571" cy="2251695"/>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29875" tIns="329875" rIns="329875" bIns="329875" numCol="1" spcCol="1270" anchor="t" anchorCtr="0">
          <a:noAutofit/>
        </a:bodyPr>
        <a:lstStyle/>
        <a:p>
          <a:pPr marL="0" lvl="0" indent="0" algn="l" defTabSz="1022350">
            <a:lnSpc>
              <a:spcPct val="90000"/>
            </a:lnSpc>
            <a:spcBef>
              <a:spcPct val="0"/>
            </a:spcBef>
            <a:spcAft>
              <a:spcPct val="35000"/>
            </a:spcAft>
            <a:buNone/>
          </a:pPr>
          <a:r>
            <a:rPr lang="en-US" sz="2300" kern="1200"/>
            <a:t>Facilitating Accessibility and Flexibility:</a:t>
          </a:r>
        </a:p>
        <a:p>
          <a:pPr marL="171450" lvl="1" indent="-171450" algn="l" defTabSz="800100">
            <a:lnSpc>
              <a:spcPct val="90000"/>
            </a:lnSpc>
            <a:spcBef>
              <a:spcPct val="0"/>
            </a:spcBef>
            <a:spcAft>
              <a:spcPct val="15000"/>
            </a:spcAft>
            <a:buChar char="•"/>
          </a:pPr>
          <a:r>
            <a:rPr lang="en-US" sz="1800" kern="1200"/>
            <a:t>Access from multiple devices.</a:t>
          </a:r>
        </a:p>
      </dsp:txBody>
      <dsp:txXfrm>
        <a:off x="5750" y="1227696"/>
        <a:ext cx="3339571" cy="2251695"/>
      </dsp:txXfrm>
    </dsp:sp>
    <dsp:sp modelId="{82C834FF-6E19-4C5D-B226-719A1EB99C4C}">
      <dsp:nvSpPr>
        <dsp:cNvPr id="0" name=""/>
        <dsp:cNvSpPr/>
      </dsp:nvSpPr>
      <dsp:spPr>
        <a:xfrm>
          <a:off x="3453216" y="225824"/>
          <a:ext cx="3339571" cy="1001871"/>
        </a:xfrm>
        <a:prstGeom prst="rect">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3900" tIns="263900" rIns="263900" bIns="263900" numCol="1" spcCol="1270" anchor="ctr" anchorCtr="0">
          <a:noAutofit/>
        </a:bodyPr>
        <a:lstStyle/>
        <a:p>
          <a:pPr marL="0" lvl="0" indent="0" algn="ctr" defTabSz="1466850">
            <a:lnSpc>
              <a:spcPct val="90000"/>
            </a:lnSpc>
            <a:spcBef>
              <a:spcPct val="0"/>
            </a:spcBef>
            <a:spcAft>
              <a:spcPct val="35000"/>
            </a:spcAft>
            <a:buNone/>
          </a:pPr>
          <a:r>
            <a:rPr lang="en-US" sz="3300" kern="1200"/>
            <a:t>Simplifying</a:t>
          </a:r>
        </a:p>
      </dsp:txBody>
      <dsp:txXfrm>
        <a:off x="3453216" y="225824"/>
        <a:ext cx="3339571" cy="1001871"/>
      </dsp:txXfrm>
    </dsp:sp>
    <dsp:sp modelId="{DF72945D-3F6F-4C4D-90B2-68E727DBC502}">
      <dsp:nvSpPr>
        <dsp:cNvPr id="0" name=""/>
        <dsp:cNvSpPr/>
      </dsp:nvSpPr>
      <dsp:spPr>
        <a:xfrm>
          <a:off x="3453216" y="1227696"/>
          <a:ext cx="3339571" cy="2251695"/>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29875" tIns="329875" rIns="329875" bIns="329875" numCol="1" spcCol="1270" anchor="t" anchorCtr="0">
          <a:noAutofit/>
        </a:bodyPr>
        <a:lstStyle/>
        <a:p>
          <a:pPr marL="0" lvl="0" indent="0" algn="l" defTabSz="1022350">
            <a:lnSpc>
              <a:spcPct val="90000"/>
            </a:lnSpc>
            <a:spcBef>
              <a:spcPct val="0"/>
            </a:spcBef>
            <a:spcAft>
              <a:spcPct val="35000"/>
            </a:spcAft>
            <a:buNone/>
          </a:pPr>
          <a:r>
            <a:rPr lang="en-US" sz="2300" kern="1200"/>
            <a:t>Simplifying Communication Across Departments:</a:t>
          </a:r>
        </a:p>
        <a:p>
          <a:pPr marL="171450" lvl="1" indent="-171450" algn="l" defTabSz="800100">
            <a:lnSpc>
              <a:spcPct val="90000"/>
            </a:lnSpc>
            <a:spcBef>
              <a:spcPct val="0"/>
            </a:spcBef>
            <a:spcAft>
              <a:spcPct val="15000"/>
            </a:spcAft>
            <a:buChar char="•"/>
          </a:pPr>
          <a:r>
            <a:rPr lang="en-US" sz="1800" kern="1200"/>
            <a:t>Breaking down silos and promoting transparency.</a:t>
          </a:r>
        </a:p>
      </dsp:txBody>
      <dsp:txXfrm>
        <a:off x="3453216" y="1227696"/>
        <a:ext cx="3339571" cy="225169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DA8A69-3274-4BAC-8AA2-FE6035FA7214}">
      <dsp:nvSpPr>
        <dsp:cNvPr id="0" name=""/>
        <dsp:cNvSpPr/>
      </dsp:nvSpPr>
      <dsp:spPr>
        <a:xfrm>
          <a:off x="0" y="673"/>
          <a:ext cx="6364224" cy="15749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5025C9-F83F-483E-804C-6396AB4D8CD5}">
      <dsp:nvSpPr>
        <dsp:cNvPr id="0" name=""/>
        <dsp:cNvSpPr/>
      </dsp:nvSpPr>
      <dsp:spPr>
        <a:xfrm>
          <a:off x="476436" y="355047"/>
          <a:ext cx="866247" cy="86624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D44C90E-E575-4D44-82E2-8B066AF02A8A}">
      <dsp:nvSpPr>
        <dsp:cNvPr id="0" name=""/>
        <dsp:cNvSpPr/>
      </dsp:nvSpPr>
      <dsp:spPr>
        <a:xfrm>
          <a:off x="1819120" y="673"/>
          <a:ext cx="4545103" cy="1574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687" tIns="166687" rIns="166687" bIns="166687" numCol="1" spcCol="1270" anchor="ctr" anchorCtr="0">
          <a:noAutofit/>
        </a:bodyPr>
        <a:lstStyle/>
        <a:p>
          <a:pPr marL="0" lvl="0" indent="0" algn="l" defTabSz="1111250">
            <a:lnSpc>
              <a:spcPct val="90000"/>
            </a:lnSpc>
            <a:spcBef>
              <a:spcPct val="0"/>
            </a:spcBef>
            <a:spcAft>
              <a:spcPct val="35000"/>
            </a:spcAft>
            <a:buNone/>
          </a:pPr>
          <a:r>
            <a:rPr lang="en-US" sz="2500" kern="1200"/>
            <a:t>Rapid growth in digital collaboration tools since 2020.</a:t>
          </a:r>
        </a:p>
      </dsp:txBody>
      <dsp:txXfrm>
        <a:off x="1819120" y="673"/>
        <a:ext cx="4545103" cy="1574995"/>
      </dsp:txXfrm>
    </dsp:sp>
    <dsp:sp modelId="{EB1D0735-E034-40FF-A3C0-8BE6FF3CF0B4}">
      <dsp:nvSpPr>
        <dsp:cNvPr id="0" name=""/>
        <dsp:cNvSpPr/>
      </dsp:nvSpPr>
      <dsp:spPr>
        <a:xfrm>
          <a:off x="0" y="1969418"/>
          <a:ext cx="6364224" cy="15749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347877-0022-41AB-9873-BDDCF02ADD29}">
      <dsp:nvSpPr>
        <dsp:cNvPr id="0" name=""/>
        <dsp:cNvSpPr/>
      </dsp:nvSpPr>
      <dsp:spPr>
        <a:xfrm>
          <a:off x="476436" y="2323792"/>
          <a:ext cx="866247" cy="86624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C097C7-018F-47B4-89FC-C8E6018F53C0}">
      <dsp:nvSpPr>
        <dsp:cNvPr id="0" name=""/>
        <dsp:cNvSpPr/>
      </dsp:nvSpPr>
      <dsp:spPr>
        <a:xfrm>
          <a:off x="1819120" y="1969418"/>
          <a:ext cx="4545103" cy="1574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687" tIns="166687" rIns="166687" bIns="166687" numCol="1" spcCol="1270" anchor="ctr" anchorCtr="0">
          <a:noAutofit/>
        </a:bodyPr>
        <a:lstStyle/>
        <a:p>
          <a:pPr marL="0" lvl="0" indent="0" algn="l" defTabSz="1111250">
            <a:lnSpc>
              <a:spcPct val="90000"/>
            </a:lnSpc>
            <a:spcBef>
              <a:spcPct val="0"/>
            </a:spcBef>
            <a:spcAft>
              <a:spcPct val="35000"/>
            </a:spcAft>
            <a:buNone/>
          </a:pPr>
          <a:r>
            <a:rPr lang="en-US" sz="2500" kern="1200"/>
            <a:t>Importance of communication tools during remote work.</a:t>
          </a:r>
        </a:p>
      </dsp:txBody>
      <dsp:txXfrm>
        <a:off x="1819120" y="1969418"/>
        <a:ext cx="4545103" cy="1574995"/>
      </dsp:txXfrm>
    </dsp:sp>
    <dsp:sp modelId="{6999D918-42C8-4BF6-9939-29F275C35CE3}">
      <dsp:nvSpPr>
        <dsp:cNvPr id="0" name=""/>
        <dsp:cNvSpPr/>
      </dsp:nvSpPr>
      <dsp:spPr>
        <a:xfrm>
          <a:off x="0" y="3938162"/>
          <a:ext cx="6364224" cy="15749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3491FF-8FB1-491E-90C1-9E226E96F9AE}">
      <dsp:nvSpPr>
        <dsp:cNvPr id="0" name=""/>
        <dsp:cNvSpPr/>
      </dsp:nvSpPr>
      <dsp:spPr>
        <a:xfrm>
          <a:off x="476436" y="4292537"/>
          <a:ext cx="866247" cy="86624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912668D-020E-4232-A181-CFC4B5D102B1}">
      <dsp:nvSpPr>
        <dsp:cNvPr id="0" name=""/>
        <dsp:cNvSpPr/>
      </dsp:nvSpPr>
      <dsp:spPr>
        <a:xfrm>
          <a:off x="1819120" y="3938162"/>
          <a:ext cx="4545103" cy="1574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687" tIns="166687" rIns="166687" bIns="166687" numCol="1" spcCol="1270" anchor="ctr" anchorCtr="0">
          <a:noAutofit/>
        </a:bodyPr>
        <a:lstStyle/>
        <a:p>
          <a:pPr marL="0" lvl="0" indent="0" algn="l" defTabSz="1111250">
            <a:lnSpc>
              <a:spcPct val="90000"/>
            </a:lnSpc>
            <a:spcBef>
              <a:spcPct val="0"/>
            </a:spcBef>
            <a:spcAft>
              <a:spcPct val="35000"/>
            </a:spcAft>
            <a:buNone/>
          </a:pPr>
          <a:r>
            <a:rPr lang="en-US" sz="2500" kern="1200"/>
            <a:t>Adoption driven by necessity and efficiency.</a:t>
          </a:r>
        </a:p>
      </dsp:txBody>
      <dsp:txXfrm>
        <a:off x="1819120" y="3938162"/>
        <a:ext cx="4545103" cy="157499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F694E1-EAFD-4403-B70B-A32D4313186F}">
      <dsp:nvSpPr>
        <dsp:cNvPr id="0" name=""/>
        <dsp:cNvSpPr/>
      </dsp:nvSpPr>
      <dsp:spPr>
        <a:xfrm>
          <a:off x="0" y="258054"/>
          <a:ext cx="6807333" cy="2482337"/>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kern="1200"/>
            <a:t>Market Share:</a:t>
          </a:r>
          <a:r>
            <a:rPr lang="en-US" sz="2100" kern="1200"/>
            <a:t> Microsoft Teams has become one of the leading platforms in the business communication space, with an estimated market share of over </a:t>
          </a:r>
          <a:r>
            <a:rPr lang="en-US" sz="2100" b="1" kern="1200"/>
            <a:t>30%</a:t>
          </a:r>
          <a:r>
            <a:rPr lang="en-US" sz="2100" kern="1200"/>
            <a:t> in the collaboration software sector as of 2023.</a:t>
          </a:r>
        </a:p>
      </dsp:txBody>
      <dsp:txXfrm>
        <a:off x="121178" y="379232"/>
        <a:ext cx="6564977" cy="2239981"/>
      </dsp:txXfrm>
    </dsp:sp>
    <dsp:sp modelId="{E558CB78-99A7-4F6D-84B4-E671AE31731F}">
      <dsp:nvSpPr>
        <dsp:cNvPr id="0" name=""/>
        <dsp:cNvSpPr/>
      </dsp:nvSpPr>
      <dsp:spPr>
        <a:xfrm>
          <a:off x="0" y="2800872"/>
          <a:ext cx="6807333" cy="2482337"/>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kern="1200"/>
            <a:t>Revenue:</a:t>
          </a:r>
          <a:r>
            <a:rPr lang="en-US" sz="2100" kern="1200"/>
            <a:t> Microsoft reported that Teams contributed to their overall Office 365 revenue, which generated approximately </a:t>
          </a:r>
          <a:r>
            <a:rPr lang="en-US" sz="2100" b="1" kern="1200"/>
            <a:t>$85 billion</a:t>
          </a:r>
          <a:r>
            <a:rPr lang="en-US" sz="2100" kern="1200"/>
            <a:t> in 2023, with Teams playing a pivotal role in those earnings due to its widespread adoption amid the shift to remote/hybrid work. Exact figures specific to Teams are not always disclosed, but user growth is a key indicator of its financial impact.</a:t>
          </a:r>
        </a:p>
      </dsp:txBody>
      <dsp:txXfrm>
        <a:off x="121178" y="2922050"/>
        <a:ext cx="6564977" cy="223998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84736F-9788-4170-A8BA-43C1F4CE89FB}">
      <dsp:nvSpPr>
        <dsp:cNvPr id="0" name=""/>
        <dsp:cNvSpPr/>
      </dsp:nvSpPr>
      <dsp:spPr>
        <a:xfrm>
          <a:off x="0" y="254826"/>
          <a:ext cx="6364224" cy="2467529"/>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a:t>Market Share:</a:t>
          </a:r>
          <a:r>
            <a:rPr lang="en-US" sz="2400" kern="1200"/>
            <a:t> Zoom holds a significant position in the video conferencing market, with estimates placing its market share around </a:t>
          </a:r>
          <a:r>
            <a:rPr lang="en-US" sz="2400" b="1" kern="1200"/>
            <a:t>40%</a:t>
          </a:r>
          <a:r>
            <a:rPr lang="en-US" sz="2400" kern="1200"/>
            <a:t> to </a:t>
          </a:r>
          <a:r>
            <a:rPr lang="en-US" sz="2400" b="1" kern="1200"/>
            <a:t>50%</a:t>
          </a:r>
          <a:r>
            <a:rPr lang="en-US" sz="2400" kern="1200"/>
            <a:t>. Its popularity surged during the COVID-19 pandemic.</a:t>
          </a:r>
        </a:p>
      </dsp:txBody>
      <dsp:txXfrm>
        <a:off x="120455" y="375281"/>
        <a:ext cx="6123314" cy="2226619"/>
      </dsp:txXfrm>
    </dsp:sp>
    <dsp:sp modelId="{26141AD8-70AF-4F08-BC3C-3F905C9DF3FA}">
      <dsp:nvSpPr>
        <dsp:cNvPr id="0" name=""/>
        <dsp:cNvSpPr/>
      </dsp:nvSpPr>
      <dsp:spPr>
        <a:xfrm>
          <a:off x="0" y="2791476"/>
          <a:ext cx="6364224" cy="2467529"/>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a:t>Revenue:</a:t>
          </a:r>
          <a:r>
            <a:rPr lang="en-US" sz="2400" kern="1200"/>
            <a:t> Zoom's revenue for the fiscal year ending January 2023 was approximately </a:t>
          </a:r>
          <a:r>
            <a:rPr lang="en-US" sz="2400" b="1" kern="1200"/>
            <a:t>$4.4 billion</a:t>
          </a:r>
          <a:r>
            <a:rPr lang="en-US" sz="2400" kern="1200"/>
            <a:t>, reflecting a continuous growth trajectory. In Q2 2023, Zoom reported about </a:t>
          </a:r>
          <a:r>
            <a:rPr lang="en-US" sz="2400" b="1" kern="1200"/>
            <a:t>$1.1 billion</a:t>
          </a:r>
          <a:r>
            <a:rPr lang="en-US" sz="2400" kern="1200"/>
            <a:t> in revenue, indicating strong demand for its communication services.</a:t>
          </a:r>
        </a:p>
      </dsp:txBody>
      <dsp:txXfrm>
        <a:off x="120455" y="2911931"/>
        <a:ext cx="6123314" cy="222661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2A243B-CB58-4468-9D17-70C9CA4F0991}">
      <dsp:nvSpPr>
        <dsp:cNvPr id="0" name=""/>
        <dsp:cNvSpPr/>
      </dsp:nvSpPr>
      <dsp:spPr>
        <a:xfrm>
          <a:off x="0" y="5045"/>
          <a:ext cx="6364224" cy="271875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kern="1200"/>
            <a:t>Market Share:</a:t>
          </a:r>
          <a:r>
            <a:rPr lang="en-US" sz="2300" kern="1200"/>
            <a:t> Cisco Webex commands a market share of around </a:t>
          </a:r>
          <a:r>
            <a:rPr lang="en-US" sz="2300" b="1" kern="1200"/>
            <a:t>10%</a:t>
          </a:r>
          <a:r>
            <a:rPr lang="en-US" sz="2300" kern="1200"/>
            <a:t>, making it one of the key players in the business communication tools arena.</a:t>
          </a:r>
        </a:p>
      </dsp:txBody>
      <dsp:txXfrm>
        <a:off x="132718" y="137763"/>
        <a:ext cx="6098788" cy="2453314"/>
      </dsp:txXfrm>
    </dsp:sp>
    <dsp:sp modelId="{637A97F3-1EB5-4675-AB0D-C5221C83E7DA}">
      <dsp:nvSpPr>
        <dsp:cNvPr id="0" name=""/>
        <dsp:cNvSpPr/>
      </dsp:nvSpPr>
      <dsp:spPr>
        <a:xfrm>
          <a:off x="0" y="2790036"/>
          <a:ext cx="6364224" cy="2718750"/>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kern="1200"/>
            <a:t>Revenue:</a:t>
          </a:r>
          <a:r>
            <a:rPr lang="en-US" sz="2300" kern="1200"/>
            <a:t> Although Cisco does not break down revenue by its specific services, in 2023, the company reported total revenues of about </a:t>
          </a:r>
          <a:r>
            <a:rPr lang="en-US" sz="2300" b="1" kern="1200"/>
            <a:t>$14.5 billion</a:t>
          </a:r>
          <a:r>
            <a:rPr lang="en-US" sz="2300" kern="1200"/>
            <a:t>, with Webex as a significant contributor, particularly emphasized during their strategic push towards hybrid work solutions.</a:t>
          </a:r>
        </a:p>
      </dsp:txBody>
      <dsp:txXfrm>
        <a:off x="132718" y="2922754"/>
        <a:ext cx="6098788" cy="245331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88346A-F7C3-44A0-93D4-81996BCCF1A1}">
      <dsp:nvSpPr>
        <dsp:cNvPr id="0" name=""/>
        <dsp:cNvSpPr/>
      </dsp:nvSpPr>
      <dsp:spPr>
        <a:xfrm>
          <a:off x="212335" y="1507711"/>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AD2357-F51F-4D45-B88E-CC87E0CA8A42}">
      <dsp:nvSpPr>
        <dsp:cNvPr id="0" name=""/>
        <dsp:cNvSpPr/>
      </dsp:nvSpPr>
      <dsp:spPr>
        <a:xfrm>
          <a:off x="492877" y="1788253"/>
          <a:ext cx="774830" cy="7748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B4911D-265B-4B86-B3E2-2A9A884BB877}">
      <dsp:nvSpPr>
        <dsp:cNvPr id="0" name=""/>
        <dsp:cNvSpPr/>
      </dsp:nvSpPr>
      <dsp:spPr>
        <a:xfrm>
          <a:off x="1834517" y="1507711"/>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b="1" kern="1200"/>
            <a:t>Slack:</a:t>
          </a:r>
          <a:r>
            <a:rPr lang="en-US" sz="1400" kern="1200"/>
            <a:t> Acquired by Salesforce in July 2021, Slack had around a </a:t>
          </a:r>
          <a:r>
            <a:rPr lang="en-US" sz="1400" b="1" kern="1200"/>
            <a:t>7% to 8%</a:t>
          </a:r>
          <a:r>
            <a:rPr lang="en-US" sz="1400" kern="1200"/>
            <a:t> market share in team collaboration tools as of early 2023. Its financial specifics are detailed within Salesforce's broader financial reporting.</a:t>
          </a:r>
        </a:p>
      </dsp:txBody>
      <dsp:txXfrm>
        <a:off x="1834517" y="1507711"/>
        <a:ext cx="3148942" cy="1335915"/>
      </dsp:txXfrm>
    </dsp:sp>
    <dsp:sp modelId="{DAAA1822-CA11-466F-9A55-07D4E794FD66}">
      <dsp:nvSpPr>
        <dsp:cNvPr id="0" name=""/>
        <dsp:cNvSpPr/>
      </dsp:nvSpPr>
      <dsp:spPr>
        <a:xfrm>
          <a:off x="5532139" y="1507711"/>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8EA194-3340-4D8D-AC2F-B0157E6171BE}">
      <dsp:nvSpPr>
        <dsp:cNvPr id="0" name=""/>
        <dsp:cNvSpPr/>
      </dsp:nvSpPr>
      <dsp:spPr>
        <a:xfrm>
          <a:off x="5812681" y="1788253"/>
          <a:ext cx="774830" cy="7748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E14DC60-FB25-457F-A93A-4C45154DDA61}">
      <dsp:nvSpPr>
        <dsp:cNvPr id="0" name=""/>
        <dsp:cNvSpPr/>
      </dsp:nvSpPr>
      <dsp:spPr>
        <a:xfrm>
          <a:off x="7154322" y="1507711"/>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b="1" kern="1200"/>
            <a:t>RingCentral:</a:t>
          </a:r>
          <a:r>
            <a:rPr lang="en-US" sz="1400" kern="1200"/>
            <a:t> RingCentral holds about </a:t>
          </a:r>
          <a:r>
            <a:rPr lang="en-US" sz="1400" b="1" kern="1200"/>
            <a:t>5% of the market share</a:t>
          </a:r>
          <a:r>
            <a:rPr lang="en-US" sz="1400" kern="1200"/>
            <a:t> in business communication and collaboration services, generating </a:t>
          </a:r>
          <a:r>
            <a:rPr lang="en-US" sz="1400" b="1" kern="1200"/>
            <a:t>$1.8 billion in revenue</a:t>
          </a:r>
          <a:r>
            <a:rPr lang="en-US" sz="1400" kern="1200"/>
            <a:t> for the fiscal year 2022.</a:t>
          </a:r>
        </a:p>
      </dsp:txBody>
      <dsp:txXfrm>
        <a:off x="7154322" y="1507711"/>
        <a:ext cx="3148942" cy="1335915"/>
      </dsp:txXfrm>
    </dsp:sp>
  </dsp:spTree>
</dsp:drawing>
</file>

<file path=ppt/diagrams/layout1.xml><?xml version="1.0" encoding="utf-8"?>
<dgm:layoutDef xmlns:dgm="http://schemas.openxmlformats.org/drawingml/2006/diagram" xmlns:a="http://schemas.openxmlformats.org/drawingml/2006/main" uniqueId="urn:microsoft.com/office/officeart/2016/7/layout/HorizontalActionList">
  <dgm:title val="Horizontal Action List"/>
  <dgm:desc val="Used to show non-sequential or grouped lists of information. Works well with large amounts of text. All text has the same level of emphasis, and direction is not implied."/>
  <dgm:catLst>
    <dgm:cat type="list"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54"/>
      <dgm:constr type="primFontSz" for="des" forName="desTx" refType="primFontSz" refFor="des" refForName="parTx" op="lte" fact="0.75"/>
      <dgm:constr type="h" for="des" forName="desTx" op="equ"/>
      <dgm:constr type="w" for="ch" forName="space" op="equ" val="3"/>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varLst>
          <dgm:alg type="tx"/>
          <dgm:shape xmlns:r="http://schemas.openxmlformats.org/officeDocument/2006/relationships" type="rect" r:blip="">
            <dgm:adjLst/>
          </dgm:shape>
          <dgm:presOf axis="self" ptType="node"/>
          <dgm:constrLst>
            <dgm:constr type="h" refType="w" op="lte" fact="0.3"/>
            <dgm:constr type="h"/>
            <dgm:constr type="tMarg" refType="w" fact="0.224"/>
            <dgm:constr type="bMarg" refType="w" fact="0.224"/>
            <dgm:constr type="lMarg" refType="w" fact="0.224"/>
            <dgm:constr type="rMarg" refType="w" fact="0.224"/>
          </dgm:constrLst>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8"/>
            <dgm:constr type="tMarg" refType="w" fact="0.28"/>
            <dgm:constr type="bMarg" refType="w" fact="0.28"/>
            <dgm:constr type="lMarg" refType="w" fact="0.28"/>
            <dgm:constr type="rMarg" refType="w" fact="0.28"/>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6/7/layout/HorizontalActionList">
  <dgm:title val="Horizontal Action List"/>
  <dgm:desc val="Used to show non-sequential or grouped lists of information. Works well with large amounts of text. All text has the same level of emphasis, and direction is not implied."/>
  <dgm:catLst>
    <dgm:cat type="list"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54"/>
      <dgm:constr type="primFontSz" for="des" forName="desTx" refType="primFontSz" refFor="des" refForName="parTx" op="lte" fact="0.75"/>
      <dgm:constr type="h" for="des" forName="desTx" op="equ"/>
      <dgm:constr type="w" for="ch" forName="space" op="equ" val="3"/>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varLst>
          <dgm:alg type="tx"/>
          <dgm:shape xmlns:r="http://schemas.openxmlformats.org/officeDocument/2006/relationships" type="rect" r:blip="">
            <dgm:adjLst/>
          </dgm:shape>
          <dgm:presOf axis="self" ptType="node"/>
          <dgm:constrLst>
            <dgm:constr type="h" refType="w" op="lte" fact="0.3"/>
            <dgm:constr type="h"/>
            <dgm:constr type="tMarg" refType="w" fact="0.224"/>
            <dgm:constr type="bMarg" refType="w" fact="0.224"/>
            <dgm:constr type="lMarg" refType="w" fact="0.224"/>
            <dgm:constr type="rMarg" refType="w" fact="0.224"/>
          </dgm:constrLst>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8"/>
            <dgm:constr type="tMarg" refType="w" fact="0.28"/>
            <dgm:constr type="bMarg" refType="w" fact="0.28"/>
            <dgm:constr type="lMarg" refType="w" fact="0.28"/>
            <dgm:constr type="rMarg" refType="w" fact="0.28"/>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99531-5EC4-FA18-14EB-E2DDB2170B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270B36B-0427-889C-D4FD-D9D78BD719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CCF0461-EB54-C02C-F86D-FA41E91763B9}"/>
              </a:ext>
            </a:extLst>
          </p:cNvPr>
          <p:cNvSpPr>
            <a:spLocks noGrp="1"/>
          </p:cNvSpPr>
          <p:nvPr>
            <p:ph type="dt" sz="half" idx="10"/>
          </p:nvPr>
        </p:nvSpPr>
        <p:spPr/>
        <p:txBody>
          <a:bodyPr/>
          <a:lstStyle/>
          <a:p>
            <a:fld id="{718F6F59-2215-4150-BEFB-3BBA0F65F16C}" type="datetimeFigureOut">
              <a:rPr lang="en-US" smtClean="0"/>
              <a:t>2/27/2025</a:t>
            </a:fld>
            <a:endParaRPr lang="en-US"/>
          </a:p>
        </p:txBody>
      </p:sp>
      <p:sp>
        <p:nvSpPr>
          <p:cNvPr id="5" name="Footer Placeholder 4">
            <a:extLst>
              <a:ext uri="{FF2B5EF4-FFF2-40B4-BE49-F238E27FC236}">
                <a16:creationId xmlns:a16="http://schemas.microsoft.com/office/drawing/2014/main" id="{A1A283A5-0498-D740-1A2A-087F8CA596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AD812E-F068-F2CD-7718-8254A82D9DF2}"/>
              </a:ext>
            </a:extLst>
          </p:cNvPr>
          <p:cNvSpPr>
            <a:spLocks noGrp="1"/>
          </p:cNvSpPr>
          <p:nvPr>
            <p:ph type="sldNum" sz="quarter" idx="12"/>
          </p:nvPr>
        </p:nvSpPr>
        <p:spPr/>
        <p:txBody>
          <a:bodyPr/>
          <a:lstStyle/>
          <a:p>
            <a:fld id="{077B0DAB-C337-4D3F-B2E0-593C270E337B}" type="slidenum">
              <a:rPr lang="en-US" smtClean="0"/>
              <a:t>‹#›</a:t>
            </a:fld>
            <a:endParaRPr lang="en-US"/>
          </a:p>
        </p:txBody>
      </p:sp>
    </p:spTree>
    <p:extLst>
      <p:ext uri="{BB962C8B-B14F-4D97-AF65-F5344CB8AC3E}">
        <p14:creationId xmlns:p14="http://schemas.microsoft.com/office/powerpoint/2010/main" val="11745869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24FFF-D285-2D9A-7F91-1A813E917F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271FE3-F6EF-9171-CB3F-210C8D949E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9A8426-5287-2B77-19CB-8AE40CF225F6}"/>
              </a:ext>
            </a:extLst>
          </p:cNvPr>
          <p:cNvSpPr>
            <a:spLocks noGrp="1"/>
          </p:cNvSpPr>
          <p:nvPr>
            <p:ph type="dt" sz="half" idx="10"/>
          </p:nvPr>
        </p:nvSpPr>
        <p:spPr/>
        <p:txBody>
          <a:bodyPr/>
          <a:lstStyle/>
          <a:p>
            <a:fld id="{718F6F59-2215-4150-BEFB-3BBA0F65F16C}" type="datetimeFigureOut">
              <a:rPr lang="en-US" smtClean="0"/>
              <a:t>2/27/2025</a:t>
            </a:fld>
            <a:endParaRPr lang="en-US"/>
          </a:p>
        </p:txBody>
      </p:sp>
      <p:sp>
        <p:nvSpPr>
          <p:cNvPr id="5" name="Footer Placeholder 4">
            <a:extLst>
              <a:ext uri="{FF2B5EF4-FFF2-40B4-BE49-F238E27FC236}">
                <a16:creationId xmlns:a16="http://schemas.microsoft.com/office/drawing/2014/main" id="{9BE41F42-365E-9123-02B0-A27766D20E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13B058-C4A4-F5C1-22B3-0DED208BF374}"/>
              </a:ext>
            </a:extLst>
          </p:cNvPr>
          <p:cNvSpPr>
            <a:spLocks noGrp="1"/>
          </p:cNvSpPr>
          <p:nvPr>
            <p:ph type="sldNum" sz="quarter" idx="12"/>
          </p:nvPr>
        </p:nvSpPr>
        <p:spPr/>
        <p:txBody>
          <a:bodyPr/>
          <a:lstStyle/>
          <a:p>
            <a:fld id="{077B0DAB-C337-4D3F-B2E0-593C270E337B}" type="slidenum">
              <a:rPr lang="en-US" smtClean="0"/>
              <a:t>‹#›</a:t>
            </a:fld>
            <a:endParaRPr lang="en-US"/>
          </a:p>
        </p:txBody>
      </p:sp>
    </p:spTree>
    <p:extLst>
      <p:ext uri="{BB962C8B-B14F-4D97-AF65-F5344CB8AC3E}">
        <p14:creationId xmlns:p14="http://schemas.microsoft.com/office/powerpoint/2010/main" val="2580181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FDCB4-5073-94A3-9A2B-D39D380D5C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C1CE794-B3A9-9927-B376-B82998CA1B9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36FD26-82D0-48AD-CEAA-E5FB6D61FA86}"/>
              </a:ext>
            </a:extLst>
          </p:cNvPr>
          <p:cNvSpPr>
            <a:spLocks noGrp="1"/>
          </p:cNvSpPr>
          <p:nvPr>
            <p:ph type="dt" sz="half" idx="10"/>
          </p:nvPr>
        </p:nvSpPr>
        <p:spPr/>
        <p:txBody>
          <a:bodyPr/>
          <a:lstStyle/>
          <a:p>
            <a:fld id="{718F6F59-2215-4150-BEFB-3BBA0F65F16C}" type="datetimeFigureOut">
              <a:rPr lang="en-US" smtClean="0"/>
              <a:t>2/27/2025</a:t>
            </a:fld>
            <a:endParaRPr lang="en-US"/>
          </a:p>
        </p:txBody>
      </p:sp>
      <p:sp>
        <p:nvSpPr>
          <p:cNvPr id="5" name="Footer Placeholder 4">
            <a:extLst>
              <a:ext uri="{FF2B5EF4-FFF2-40B4-BE49-F238E27FC236}">
                <a16:creationId xmlns:a16="http://schemas.microsoft.com/office/drawing/2014/main" id="{DCB659F0-B814-93DD-0D12-915FB679BF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0AFB36-362A-0546-A1EE-4265258AB417}"/>
              </a:ext>
            </a:extLst>
          </p:cNvPr>
          <p:cNvSpPr>
            <a:spLocks noGrp="1"/>
          </p:cNvSpPr>
          <p:nvPr>
            <p:ph type="sldNum" sz="quarter" idx="12"/>
          </p:nvPr>
        </p:nvSpPr>
        <p:spPr/>
        <p:txBody>
          <a:bodyPr/>
          <a:lstStyle/>
          <a:p>
            <a:fld id="{077B0DAB-C337-4D3F-B2E0-593C270E337B}" type="slidenum">
              <a:rPr lang="en-US" smtClean="0"/>
              <a:t>‹#›</a:t>
            </a:fld>
            <a:endParaRPr lang="en-US"/>
          </a:p>
        </p:txBody>
      </p:sp>
    </p:spTree>
    <p:extLst>
      <p:ext uri="{BB962C8B-B14F-4D97-AF65-F5344CB8AC3E}">
        <p14:creationId xmlns:p14="http://schemas.microsoft.com/office/powerpoint/2010/main" val="3748797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59782-0D05-CF7B-5C0B-4D8181F7B43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4FBE71-4195-1A40-5E55-CBC0580069C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6913F97-C41E-1BC0-03B8-04C310C5A9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968FDAC-4588-6168-ED96-12AB6F00C13C}"/>
              </a:ext>
            </a:extLst>
          </p:cNvPr>
          <p:cNvSpPr>
            <a:spLocks noGrp="1"/>
          </p:cNvSpPr>
          <p:nvPr>
            <p:ph type="dt" sz="half" idx="10"/>
          </p:nvPr>
        </p:nvSpPr>
        <p:spPr/>
        <p:txBody>
          <a:bodyPr/>
          <a:lstStyle/>
          <a:p>
            <a:fld id="{718F6F59-2215-4150-BEFB-3BBA0F65F16C}" type="datetimeFigureOut">
              <a:rPr lang="en-US" smtClean="0"/>
              <a:t>2/27/2025</a:t>
            </a:fld>
            <a:endParaRPr lang="en-US"/>
          </a:p>
        </p:txBody>
      </p:sp>
      <p:sp>
        <p:nvSpPr>
          <p:cNvPr id="6" name="Footer Placeholder 5">
            <a:extLst>
              <a:ext uri="{FF2B5EF4-FFF2-40B4-BE49-F238E27FC236}">
                <a16:creationId xmlns:a16="http://schemas.microsoft.com/office/drawing/2014/main" id="{F011DDE8-DBF6-2D15-8CBF-FB68366540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E3E93-3CA4-4626-88DC-FA27F40D2181}"/>
              </a:ext>
            </a:extLst>
          </p:cNvPr>
          <p:cNvSpPr>
            <a:spLocks noGrp="1"/>
          </p:cNvSpPr>
          <p:nvPr>
            <p:ph type="sldNum" sz="quarter" idx="12"/>
          </p:nvPr>
        </p:nvSpPr>
        <p:spPr/>
        <p:txBody>
          <a:bodyPr/>
          <a:lstStyle/>
          <a:p>
            <a:fld id="{077B0DAB-C337-4D3F-B2E0-593C270E337B}" type="slidenum">
              <a:rPr lang="en-US" smtClean="0"/>
              <a:t>‹#›</a:t>
            </a:fld>
            <a:endParaRPr lang="en-US"/>
          </a:p>
        </p:txBody>
      </p:sp>
    </p:spTree>
    <p:extLst>
      <p:ext uri="{BB962C8B-B14F-4D97-AF65-F5344CB8AC3E}">
        <p14:creationId xmlns:p14="http://schemas.microsoft.com/office/powerpoint/2010/main" val="101817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3CCDF-E0C9-5705-BBA4-63449920312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F9B2BCB-0771-7DB2-7117-FE8C299D59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8C4FDC-3696-BD0C-86C6-CB0F6D30BB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E8A9C88-5DB8-54EA-9EE5-C97BEC4CCD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E2136B3-2095-95D9-ECC1-B136CDFD3A0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FE2E2F-C9B4-AA0A-B3A6-228ADA8D591C}"/>
              </a:ext>
            </a:extLst>
          </p:cNvPr>
          <p:cNvSpPr>
            <a:spLocks noGrp="1"/>
          </p:cNvSpPr>
          <p:nvPr>
            <p:ph type="dt" sz="half" idx="10"/>
          </p:nvPr>
        </p:nvSpPr>
        <p:spPr/>
        <p:txBody>
          <a:bodyPr/>
          <a:lstStyle/>
          <a:p>
            <a:fld id="{718F6F59-2215-4150-BEFB-3BBA0F65F16C}" type="datetimeFigureOut">
              <a:rPr lang="en-US" smtClean="0"/>
              <a:t>2/27/2025</a:t>
            </a:fld>
            <a:endParaRPr lang="en-US"/>
          </a:p>
        </p:txBody>
      </p:sp>
      <p:sp>
        <p:nvSpPr>
          <p:cNvPr id="8" name="Footer Placeholder 7">
            <a:extLst>
              <a:ext uri="{FF2B5EF4-FFF2-40B4-BE49-F238E27FC236}">
                <a16:creationId xmlns:a16="http://schemas.microsoft.com/office/drawing/2014/main" id="{6792DC99-F92B-02F9-CEC3-81908A37F90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4BD7A5C-DBC2-28C5-62F3-06D3305318FD}"/>
              </a:ext>
            </a:extLst>
          </p:cNvPr>
          <p:cNvSpPr>
            <a:spLocks noGrp="1"/>
          </p:cNvSpPr>
          <p:nvPr>
            <p:ph type="sldNum" sz="quarter" idx="12"/>
          </p:nvPr>
        </p:nvSpPr>
        <p:spPr/>
        <p:txBody>
          <a:bodyPr/>
          <a:lstStyle/>
          <a:p>
            <a:fld id="{077B0DAB-C337-4D3F-B2E0-593C270E337B}" type="slidenum">
              <a:rPr lang="en-US" smtClean="0"/>
              <a:t>‹#›</a:t>
            </a:fld>
            <a:endParaRPr lang="en-US"/>
          </a:p>
        </p:txBody>
      </p:sp>
    </p:spTree>
    <p:extLst>
      <p:ext uri="{BB962C8B-B14F-4D97-AF65-F5344CB8AC3E}">
        <p14:creationId xmlns:p14="http://schemas.microsoft.com/office/powerpoint/2010/main" val="360746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EFC9E-5604-A592-FFCF-A5FFCB24922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2A1202B-D36D-576E-20ED-15B642DE667F}"/>
              </a:ext>
            </a:extLst>
          </p:cNvPr>
          <p:cNvSpPr>
            <a:spLocks noGrp="1"/>
          </p:cNvSpPr>
          <p:nvPr>
            <p:ph type="dt" sz="half" idx="10"/>
          </p:nvPr>
        </p:nvSpPr>
        <p:spPr/>
        <p:txBody>
          <a:bodyPr/>
          <a:lstStyle/>
          <a:p>
            <a:fld id="{718F6F59-2215-4150-BEFB-3BBA0F65F16C}" type="datetimeFigureOut">
              <a:rPr lang="en-US" smtClean="0"/>
              <a:t>2/27/2025</a:t>
            </a:fld>
            <a:endParaRPr lang="en-US"/>
          </a:p>
        </p:txBody>
      </p:sp>
      <p:sp>
        <p:nvSpPr>
          <p:cNvPr id="4" name="Footer Placeholder 3">
            <a:extLst>
              <a:ext uri="{FF2B5EF4-FFF2-40B4-BE49-F238E27FC236}">
                <a16:creationId xmlns:a16="http://schemas.microsoft.com/office/drawing/2014/main" id="{6E73F226-1DA3-70AF-45CB-DF08AFE70CD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BE9BD10-A4F2-EA7E-D3A9-9B0EDB7ED734}"/>
              </a:ext>
            </a:extLst>
          </p:cNvPr>
          <p:cNvSpPr>
            <a:spLocks noGrp="1"/>
          </p:cNvSpPr>
          <p:nvPr>
            <p:ph type="sldNum" sz="quarter" idx="12"/>
          </p:nvPr>
        </p:nvSpPr>
        <p:spPr/>
        <p:txBody>
          <a:bodyPr/>
          <a:lstStyle/>
          <a:p>
            <a:fld id="{077B0DAB-C337-4D3F-B2E0-593C270E337B}" type="slidenum">
              <a:rPr lang="en-US" smtClean="0"/>
              <a:t>‹#›</a:t>
            </a:fld>
            <a:endParaRPr lang="en-US"/>
          </a:p>
        </p:txBody>
      </p:sp>
    </p:spTree>
    <p:extLst>
      <p:ext uri="{BB962C8B-B14F-4D97-AF65-F5344CB8AC3E}">
        <p14:creationId xmlns:p14="http://schemas.microsoft.com/office/powerpoint/2010/main" val="2627979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AA3833-EA32-0966-D0AF-AE4E0CD03E9C}"/>
              </a:ext>
            </a:extLst>
          </p:cNvPr>
          <p:cNvSpPr>
            <a:spLocks noGrp="1"/>
          </p:cNvSpPr>
          <p:nvPr>
            <p:ph type="dt" sz="half" idx="10"/>
          </p:nvPr>
        </p:nvSpPr>
        <p:spPr/>
        <p:txBody>
          <a:bodyPr/>
          <a:lstStyle/>
          <a:p>
            <a:fld id="{718F6F59-2215-4150-BEFB-3BBA0F65F16C}" type="datetimeFigureOut">
              <a:rPr lang="en-US" smtClean="0"/>
              <a:t>2/27/2025</a:t>
            </a:fld>
            <a:endParaRPr lang="en-US"/>
          </a:p>
        </p:txBody>
      </p:sp>
      <p:sp>
        <p:nvSpPr>
          <p:cNvPr id="3" name="Footer Placeholder 2">
            <a:extLst>
              <a:ext uri="{FF2B5EF4-FFF2-40B4-BE49-F238E27FC236}">
                <a16:creationId xmlns:a16="http://schemas.microsoft.com/office/drawing/2014/main" id="{9D559B28-7AFE-13AA-DF99-E5D1E43297F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9BD0333-CD86-0305-16B5-C3FD37F86C05}"/>
              </a:ext>
            </a:extLst>
          </p:cNvPr>
          <p:cNvSpPr>
            <a:spLocks noGrp="1"/>
          </p:cNvSpPr>
          <p:nvPr>
            <p:ph type="sldNum" sz="quarter" idx="12"/>
          </p:nvPr>
        </p:nvSpPr>
        <p:spPr/>
        <p:txBody>
          <a:bodyPr/>
          <a:lstStyle/>
          <a:p>
            <a:fld id="{077B0DAB-C337-4D3F-B2E0-593C270E337B}" type="slidenum">
              <a:rPr lang="en-US" smtClean="0"/>
              <a:t>‹#›</a:t>
            </a:fld>
            <a:endParaRPr lang="en-US"/>
          </a:p>
        </p:txBody>
      </p:sp>
    </p:spTree>
    <p:extLst>
      <p:ext uri="{BB962C8B-B14F-4D97-AF65-F5344CB8AC3E}">
        <p14:creationId xmlns:p14="http://schemas.microsoft.com/office/powerpoint/2010/main" val="1377789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743AC-CE6C-9A72-59F1-AAFE97746A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E65360E-725E-3974-E44E-7D68F3C974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91A1461-0424-C4DC-C157-FA2AEF4CFA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E22E09-EBB5-5357-0510-AED4E12E828C}"/>
              </a:ext>
            </a:extLst>
          </p:cNvPr>
          <p:cNvSpPr>
            <a:spLocks noGrp="1"/>
          </p:cNvSpPr>
          <p:nvPr>
            <p:ph type="dt" sz="half" idx="10"/>
          </p:nvPr>
        </p:nvSpPr>
        <p:spPr/>
        <p:txBody>
          <a:bodyPr/>
          <a:lstStyle/>
          <a:p>
            <a:fld id="{718F6F59-2215-4150-BEFB-3BBA0F65F16C}" type="datetimeFigureOut">
              <a:rPr lang="en-US" smtClean="0"/>
              <a:t>2/27/2025</a:t>
            </a:fld>
            <a:endParaRPr lang="en-US"/>
          </a:p>
        </p:txBody>
      </p:sp>
      <p:sp>
        <p:nvSpPr>
          <p:cNvPr id="6" name="Footer Placeholder 5">
            <a:extLst>
              <a:ext uri="{FF2B5EF4-FFF2-40B4-BE49-F238E27FC236}">
                <a16:creationId xmlns:a16="http://schemas.microsoft.com/office/drawing/2014/main" id="{A431165E-4260-6290-C9CC-3523450265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75F3F0-2D12-0C04-9B06-6CCA8FC21619}"/>
              </a:ext>
            </a:extLst>
          </p:cNvPr>
          <p:cNvSpPr>
            <a:spLocks noGrp="1"/>
          </p:cNvSpPr>
          <p:nvPr>
            <p:ph type="sldNum" sz="quarter" idx="12"/>
          </p:nvPr>
        </p:nvSpPr>
        <p:spPr/>
        <p:txBody>
          <a:bodyPr/>
          <a:lstStyle/>
          <a:p>
            <a:fld id="{077B0DAB-C337-4D3F-B2E0-593C270E337B}" type="slidenum">
              <a:rPr lang="en-US" smtClean="0"/>
              <a:t>‹#›</a:t>
            </a:fld>
            <a:endParaRPr lang="en-US"/>
          </a:p>
        </p:txBody>
      </p:sp>
    </p:spTree>
    <p:extLst>
      <p:ext uri="{BB962C8B-B14F-4D97-AF65-F5344CB8AC3E}">
        <p14:creationId xmlns:p14="http://schemas.microsoft.com/office/powerpoint/2010/main" val="79411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8EFBB-7DBA-3E72-3A88-BB98FB008F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5FBD2B0-06C4-EF4D-B434-AFF59C5CEA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ADE6930-A25C-8D28-1301-9760834380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821CF2-3F2B-5617-401A-6F02AB2109BE}"/>
              </a:ext>
            </a:extLst>
          </p:cNvPr>
          <p:cNvSpPr>
            <a:spLocks noGrp="1"/>
          </p:cNvSpPr>
          <p:nvPr>
            <p:ph type="dt" sz="half" idx="10"/>
          </p:nvPr>
        </p:nvSpPr>
        <p:spPr/>
        <p:txBody>
          <a:bodyPr/>
          <a:lstStyle/>
          <a:p>
            <a:fld id="{718F6F59-2215-4150-BEFB-3BBA0F65F16C}" type="datetimeFigureOut">
              <a:rPr lang="en-US" smtClean="0"/>
              <a:t>2/27/2025</a:t>
            </a:fld>
            <a:endParaRPr lang="en-US"/>
          </a:p>
        </p:txBody>
      </p:sp>
      <p:sp>
        <p:nvSpPr>
          <p:cNvPr id="6" name="Footer Placeholder 5">
            <a:extLst>
              <a:ext uri="{FF2B5EF4-FFF2-40B4-BE49-F238E27FC236}">
                <a16:creationId xmlns:a16="http://schemas.microsoft.com/office/drawing/2014/main" id="{09FE58EA-4E73-B3B8-AB52-71551098B0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9B0F5A-3CA6-48F6-0F30-B6C0956F3D70}"/>
              </a:ext>
            </a:extLst>
          </p:cNvPr>
          <p:cNvSpPr>
            <a:spLocks noGrp="1"/>
          </p:cNvSpPr>
          <p:nvPr>
            <p:ph type="sldNum" sz="quarter" idx="12"/>
          </p:nvPr>
        </p:nvSpPr>
        <p:spPr/>
        <p:txBody>
          <a:bodyPr/>
          <a:lstStyle/>
          <a:p>
            <a:fld id="{077B0DAB-C337-4D3F-B2E0-593C270E337B}" type="slidenum">
              <a:rPr lang="en-US" smtClean="0"/>
              <a:t>‹#›</a:t>
            </a:fld>
            <a:endParaRPr lang="en-US"/>
          </a:p>
        </p:txBody>
      </p:sp>
    </p:spTree>
    <p:extLst>
      <p:ext uri="{BB962C8B-B14F-4D97-AF65-F5344CB8AC3E}">
        <p14:creationId xmlns:p14="http://schemas.microsoft.com/office/powerpoint/2010/main" val="2549456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7838C-3667-25AD-637A-C928066E7E2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3D6711C-8E41-141E-6EB3-D75C923436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E93481-808C-BC49-E360-242351555B3A}"/>
              </a:ext>
            </a:extLst>
          </p:cNvPr>
          <p:cNvSpPr>
            <a:spLocks noGrp="1"/>
          </p:cNvSpPr>
          <p:nvPr>
            <p:ph type="dt" sz="half" idx="10"/>
          </p:nvPr>
        </p:nvSpPr>
        <p:spPr/>
        <p:txBody>
          <a:bodyPr/>
          <a:lstStyle/>
          <a:p>
            <a:fld id="{718F6F59-2215-4150-BEFB-3BBA0F65F16C}" type="datetimeFigureOut">
              <a:rPr lang="en-US" smtClean="0"/>
              <a:t>2/27/2025</a:t>
            </a:fld>
            <a:endParaRPr lang="en-US"/>
          </a:p>
        </p:txBody>
      </p:sp>
      <p:sp>
        <p:nvSpPr>
          <p:cNvPr id="5" name="Footer Placeholder 4">
            <a:extLst>
              <a:ext uri="{FF2B5EF4-FFF2-40B4-BE49-F238E27FC236}">
                <a16:creationId xmlns:a16="http://schemas.microsoft.com/office/drawing/2014/main" id="{4E02B3BA-539A-D882-3EA6-F8C40C5E04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252AE4-1CED-486D-3F2F-8253874448D0}"/>
              </a:ext>
            </a:extLst>
          </p:cNvPr>
          <p:cNvSpPr>
            <a:spLocks noGrp="1"/>
          </p:cNvSpPr>
          <p:nvPr>
            <p:ph type="sldNum" sz="quarter" idx="12"/>
          </p:nvPr>
        </p:nvSpPr>
        <p:spPr/>
        <p:txBody>
          <a:bodyPr/>
          <a:lstStyle/>
          <a:p>
            <a:fld id="{077B0DAB-C337-4D3F-B2E0-593C270E337B}" type="slidenum">
              <a:rPr lang="en-US" smtClean="0"/>
              <a:t>‹#›</a:t>
            </a:fld>
            <a:endParaRPr lang="en-US"/>
          </a:p>
        </p:txBody>
      </p:sp>
    </p:spTree>
    <p:extLst>
      <p:ext uri="{BB962C8B-B14F-4D97-AF65-F5344CB8AC3E}">
        <p14:creationId xmlns:p14="http://schemas.microsoft.com/office/powerpoint/2010/main" val="13055050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A91559-7D5A-5AA3-41F4-4BFC38435BE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0B8A472-C7C1-8250-4A18-77AF82F794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64BE11-7729-2467-C2A2-ADB12C9A0016}"/>
              </a:ext>
            </a:extLst>
          </p:cNvPr>
          <p:cNvSpPr>
            <a:spLocks noGrp="1"/>
          </p:cNvSpPr>
          <p:nvPr>
            <p:ph type="dt" sz="half" idx="10"/>
          </p:nvPr>
        </p:nvSpPr>
        <p:spPr/>
        <p:txBody>
          <a:bodyPr/>
          <a:lstStyle/>
          <a:p>
            <a:fld id="{718F6F59-2215-4150-BEFB-3BBA0F65F16C}" type="datetimeFigureOut">
              <a:rPr lang="en-US" smtClean="0"/>
              <a:t>2/27/2025</a:t>
            </a:fld>
            <a:endParaRPr lang="en-US"/>
          </a:p>
        </p:txBody>
      </p:sp>
      <p:sp>
        <p:nvSpPr>
          <p:cNvPr id="5" name="Footer Placeholder 4">
            <a:extLst>
              <a:ext uri="{FF2B5EF4-FFF2-40B4-BE49-F238E27FC236}">
                <a16:creationId xmlns:a16="http://schemas.microsoft.com/office/drawing/2014/main" id="{42369E29-F805-0D81-05B5-173A5D742F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B822E7-F192-0ECA-EFCA-578A9FF96699}"/>
              </a:ext>
            </a:extLst>
          </p:cNvPr>
          <p:cNvSpPr>
            <a:spLocks noGrp="1"/>
          </p:cNvSpPr>
          <p:nvPr>
            <p:ph type="sldNum" sz="quarter" idx="12"/>
          </p:nvPr>
        </p:nvSpPr>
        <p:spPr/>
        <p:txBody>
          <a:bodyPr/>
          <a:lstStyle/>
          <a:p>
            <a:fld id="{077B0DAB-C337-4D3F-B2E0-593C270E337B}" type="slidenum">
              <a:rPr lang="en-US" smtClean="0"/>
              <a:t>‹#›</a:t>
            </a:fld>
            <a:endParaRPr lang="en-US"/>
          </a:p>
        </p:txBody>
      </p:sp>
    </p:spTree>
    <p:extLst>
      <p:ext uri="{BB962C8B-B14F-4D97-AF65-F5344CB8AC3E}">
        <p14:creationId xmlns:p14="http://schemas.microsoft.com/office/powerpoint/2010/main" val="10950050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4C5453-D8D3-549D-EA27-C2C421C9D2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700A17B-EFB1-5BA7-300C-8D605E598D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ECD6BE-EEEE-6242-B6D7-C6A12406D9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18F6F59-2215-4150-BEFB-3BBA0F65F16C}" type="datetimeFigureOut">
              <a:rPr lang="en-US" smtClean="0"/>
              <a:t>2/27/2025</a:t>
            </a:fld>
            <a:endParaRPr lang="en-US"/>
          </a:p>
        </p:txBody>
      </p:sp>
      <p:sp>
        <p:nvSpPr>
          <p:cNvPr id="5" name="Footer Placeholder 4">
            <a:extLst>
              <a:ext uri="{FF2B5EF4-FFF2-40B4-BE49-F238E27FC236}">
                <a16:creationId xmlns:a16="http://schemas.microsoft.com/office/drawing/2014/main" id="{0D15DFDC-29EA-27FD-CC66-81EA161BD6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BCD772B-A8B9-B853-9B4D-B9CA2A846D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77B0DAB-C337-4D3F-B2E0-593C270E337B}" type="slidenum">
              <a:rPr lang="en-US" smtClean="0"/>
              <a:t>‹#›</a:t>
            </a:fld>
            <a:endParaRPr lang="en-US"/>
          </a:p>
        </p:txBody>
      </p:sp>
    </p:spTree>
    <p:extLst>
      <p:ext uri="{BB962C8B-B14F-4D97-AF65-F5344CB8AC3E}">
        <p14:creationId xmlns:p14="http://schemas.microsoft.com/office/powerpoint/2010/main" val="1374170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obile device with apps">
            <a:extLst>
              <a:ext uri="{FF2B5EF4-FFF2-40B4-BE49-F238E27FC236}">
                <a16:creationId xmlns:a16="http://schemas.microsoft.com/office/drawing/2014/main" id="{76857B3B-79B2-C58A-9CB4-01F1FD229089}"/>
              </a:ext>
            </a:extLst>
          </p:cNvPr>
          <p:cNvPicPr>
            <a:picLocks noChangeAspect="1"/>
          </p:cNvPicPr>
          <p:nvPr/>
        </p:nvPicPr>
        <p:blipFill>
          <a:blip r:embed="rId2">
            <a:alphaModFix amt="50000"/>
          </a:blip>
          <a:src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C3DA4C5E-E998-3E50-61EA-35EB2C30D9C8}"/>
              </a:ext>
            </a:extLst>
          </p:cNvPr>
          <p:cNvSpPr>
            <a:spLocks noGrp="1"/>
          </p:cNvSpPr>
          <p:nvPr>
            <p:ph type="ctrTitle"/>
          </p:nvPr>
        </p:nvSpPr>
        <p:spPr>
          <a:xfrm>
            <a:off x="1524000" y="1122362"/>
            <a:ext cx="9144000" cy="2900518"/>
          </a:xfrm>
        </p:spPr>
        <p:txBody>
          <a:bodyPr>
            <a:normAutofit/>
          </a:bodyPr>
          <a:lstStyle/>
          <a:p>
            <a:r>
              <a:rPr lang="en-US">
                <a:solidFill>
                  <a:srgbClr val="FFFFFF"/>
                </a:solidFill>
              </a:rPr>
              <a:t>Business Communication Tools</a:t>
            </a:r>
          </a:p>
        </p:txBody>
      </p:sp>
      <p:sp>
        <p:nvSpPr>
          <p:cNvPr id="3" name="Subtitle 2">
            <a:extLst>
              <a:ext uri="{FF2B5EF4-FFF2-40B4-BE49-F238E27FC236}">
                <a16:creationId xmlns:a16="http://schemas.microsoft.com/office/drawing/2014/main" id="{621242A7-DD18-4195-44E1-B93AAD3395DB}"/>
              </a:ext>
            </a:extLst>
          </p:cNvPr>
          <p:cNvSpPr>
            <a:spLocks noGrp="1"/>
          </p:cNvSpPr>
          <p:nvPr>
            <p:ph type="subTitle" idx="1"/>
          </p:nvPr>
        </p:nvSpPr>
        <p:spPr>
          <a:xfrm>
            <a:off x="1524000" y="4159404"/>
            <a:ext cx="9144000" cy="1098395"/>
          </a:xfrm>
        </p:spPr>
        <p:txBody>
          <a:bodyPr>
            <a:normAutofit/>
          </a:bodyPr>
          <a:lstStyle/>
          <a:p>
            <a:r>
              <a:rPr lang="en-US">
                <a:solidFill>
                  <a:srgbClr val="FFFFFF"/>
                </a:solidFill>
              </a:rPr>
              <a:t>Understanding the Role of Communication Tools in Modern Business</a:t>
            </a:r>
            <a:br>
              <a:rPr lang="en-US">
                <a:solidFill>
                  <a:srgbClr val="FFFFFF"/>
                </a:solidFill>
              </a:rPr>
            </a:br>
            <a:endParaRPr lang="en-US">
              <a:solidFill>
                <a:srgbClr val="FFFFFF"/>
              </a:solidFill>
            </a:endParaRPr>
          </a:p>
        </p:txBody>
      </p:sp>
    </p:spTree>
    <p:extLst>
      <p:ext uri="{BB962C8B-B14F-4D97-AF65-F5344CB8AC3E}">
        <p14:creationId xmlns:p14="http://schemas.microsoft.com/office/powerpoint/2010/main" val="1109064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22779F-CC2D-579F-2B48-611802301218}"/>
              </a:ext>
            </a:extLst>
          </p:cNvPr>
          <p:cNvSpPr>
            <a:spLocks noGrp="1"/>
          </p:cNvSpPr>
          <p:nvPr>
            <p:ph type="title"/>
          </p:nvPr>
        </p:nvSpPr>
        <p:spPr>
          <a:xfrm>
            <a:off x="761803" y="350196"/>
            <a:ext cx="4646904" cy="1624520"/>
          </a:xfrm>
        </p:spPr>
        <p:txBody>
          <a:bodyPr anchor="ctr">
            <a:normAutofit/>
          </a:bodyPr>
          <a:lstStyle/>
          <a:p>
            <a:r>
              <a:rPr lang="en-US" sz="4000"/>
              <a:t>Introduction</a:t>
            </a:r>
          </a:p>
        </p:txBody>
      </p:sp>
      <p:sp>
        <p:nvSpPr>
          <p:cNvPr id="3" name="Content Placeholder 2">
            <a:extLst>
              <a:ext uri="{FF2B5EF4-FFF2-40B4-BE49-F238E27FC236}">
                <a16:creationId xmlns:a16="http://schemas.microsoft.com/office/drawing/2014/main" id="{3F64BB9F-9DE8-358C-4154-E13C1B8DAAA1}"/>
              </a:ext>
            </a:extLst>
          </p:cNvPr>
          <p:cNvSpPr>
            <a:spLocks noGrp="1"/>
          </p:cNvSpPr>
          <p:nvPr>
            <p:ph idx="1"/>
          </p:nvPr>
        </p:nvSpPr>
        <p:spPr>
          <a:xfrm>
            <a:off x="761802" y="2743200"/>
            <a:ext cx="4646905" cy="3613149"/>
          </a:xfrm>
        </p:spPr>
        <p:txBody>
          <a:bodyPr anchor="ctr">
            <a:normAutofit/>
          </a:bodyPr>
          <a:lstStyle/>
          <a:p>
            <a:pPr>
              <a:buFont typeface="Arial" panose="020B0604020202020204" pitchFamily="34" charset="0"/>
              <a:buChar char="•"/>
            </a:pPr>
            <a:r>
              <a:rPr lang="en-US" sz="2000"/>
              <a:t>Significance of effective communication in business.</a:t>
            </a:r>
          </a:p>
          <a:p>
            <a:pPr>
              <a:buFont typeface="Arial" panose="020B0604020202020204" pitchFamily="34" charset="0"/>
              <a:buChar char="•"/>
            </a:pPr>
            <a:r>
              <a:rPr lang="en-US" sz="2000"/>
              <a:t>Transformation through technology.</a:t>
            </a:r>
          </a:p>
          <a:p>
            <a:pPr>
              <a:buFont typeface="Arial" panose="020B0604020202020204" pitchFamily="34" charset="0"/>
              <a:buChar char="•"/>
            </a:pPr>
            <a:r>
              <a:rPr lang="en-US" sz="2000"/>
              <a:t>Overview of the presentation topics.</a:t>
            </a:r>
          </a:p>
          <a:p>
            <a:endParaRPr lang="en-US" sz="2000"/>
          </a:p>
        </p:txBody>
      </p:sp>
      <p:pic>
        <p:nvPicPr>
          <p:cNvPr id="5" name="Picture 4" descr="A 3D pattern of ring shapes connected by lines">
            <a:extLst>
              <a:ext uri="{FF2B5EF4-FFF2-40B4-BE49-F238E27FC236}">
                <a16:creationId xmlns:a16="http://schemas.microsoft.com/office/drawing/2014/main" id="{AD393FA8-2B86-D423-DE57-E0DDA675A253}"/>
              </a:ext>
            </a:extLst>
          </p:cNvPr>
          <p:cNvPicPr>
            <a:picLocks noChangeAspect="1"/>
          </p:cNvPicPr>
          <p:nvPr/>
        </p:nvPicPr>
        <p:blipFill>
          <a:blip r:embed="rId2"/>
          <a:srcRect l="8611" r="41333"/>
          <a:stretch/>
        </p:blipFill>
        <p:spPr>
          <a:xfrm>
            <a:off x="6096000" y="1"/>
            <a:ext cx="6102825" cy="6858000"/>
          </a:xfrm>
          <a:prstGeom prst="rect">
            <a:avLst/>
          </a:prstGeom>
        </p:spPr>
      </p:pic>
    </p:spTree>
    <p:extLst>
      <p:ext uri="{BB962C8B-B14F-4D97-AF65-F5344CB8AC3E}">
        <p14:creationId xmlns:p14="http://schemas.microsoft.com/office/powerpoint/2010/main" val="2870206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122B86-AF4B-9753-1F04-139087C08233}"/>
              </a:ext>
            </a:extLst>
          </p:cNvPr>
          <p:cNvSpPr>
            <a:spLocks noGrp="1"/>
          </p:cNvSpPr>
          <p:nvPr>
            <p:ph type="title"/>
          </p:nvPr>
        </p:nvSpPr>
        <p:spPr>
          <a:xfrm>
            <a:off x="4553733" y="548464"/>
            <a:ext cx="6798541" cy="1675623"/>
          </a:xfrm>
        </p:spPr>
        <p:txBody>
          <a:bodyPr anchor="b">
            <a:normAutofit/>
          </a:bodyPr>
          <a:lstStyle/>
          <a:p>
            <a:r>
              <a:rPr lang="en-US" sz="3700" b="1"/>
              <a:t>Importance of Business Communication Tools</a:t>
            </a:r>
            <a:br>
              <a:rPr lang="en-US" sz="3700" b="1"/>
            </a:br>
            <a:endParaRPr lang="en-US" sz="3700"/>
          </a:p>
        </p:txBody>
      </p:sp>
      <p:pic>
        <p:nvPicPr>
          <p:cNvPr id="6" name="Picture 5">
            <a:extLst>
              <a:ext uri="{FF2B5EF4-FFF2-40B4-BE49-F238E27FC236}">
                <a16:creationId xmlns:a16="http://schemas.microsoft.com/office/drawing/2014/main" id="{81E8EF8F-75AB-2723-9FBE-566BF182FFBA}"/>
              </a:ext>
            </a:extLst>
          </p:cNvPr>
          <p:cNvPicPr>
            <a:picLocks noChangeAspect="1"/>
          </p:cNvPicPr>
          <p:nvPr/>
        </p:nvPicPr>
        <p:blipFill>
          <a:blip r:embed="rId2"/>
          <a:srcRect l="50682" r="3424"/>
          <a:stretch/>
        </p:blipFill>
        <p:spPr>
          <a:xfrm>
            <a:off x="1" y="10"/>
            <a:ext cx="4196496" cy="6857990"/>
          </a:xfrm>
          <a:prstGeom prst="rect">
            <a:avLst/>
          </a:prstGeom>
          <a:effectLst/>
        </p:spPr>
      </p:pic>
      <p:graphicFrame>
        <p:nvGraphicFramePr>
          <p:cNvPr id="5" name="Content Placeholder 2">
            <a:extLst>
              <a:ext uri="{FF2B5EF4-FFF2-40B4-BE49-F238E27FC236}">
                <a16:creationId xmlns:a16="http://schemas.microsoft.com/office/drawing/2014/main" id="{68D207BA-7418-3B16-5D57-DBA8356980D9}"/>
              </a:ext>
            </a:extLst>
          </p:cNvPr>
          <p:cNvGraphicFramePr>
            <a:graphicFrameLocks noGrp="1"/>
          </p:cNvGraphicFramePr>
          <p:nvPr>
            <p:ph idx="1"/>
            <p:extLst>
              <p:ext uri="{D42A27DB-BD31-4B8C-83A1-F6EECF244321}">
                <p14:modId xmlns:p14="http://schemas.microsoft.com/office/powerpoint/2010/main" val="3026494922"/>
              </p:ext>
            </p:extLst>
          </p:nvPr>
        </p:nvGraphicFramePr>
        <p:xfrm>
          <a:off x="4553734" y="2409830"/>
          <a:ext cx="6798539" cy="37052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35630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B0C847-9BDB-3B08-D325-04D1ECCCEAEE}"/>
              </a:ext>
            </a:extLst>
          </p:cNvPr>
          <p:cNvSpPr>
            <a:spLocks noGrp="1"/>
          </p:cNvSpPr>
          <p:nvPr>
            <p:ph type="title"/>
          </p:nvPr>
        </p:nvSpPr>
        <p:spPr>
          <a:xfrm>
            <a:off x="4553733" y="548464"/>
            <a:ext cx="6798541" cy="1675623"/>
          </a:xfrm>
        </p:spPr>
        <p:txBody>
          <a:bodyPr anchor="b">
            <a:normAutofit/>
          </a:bodyPr>
          <a:lstStyle/>
          <a:p>
            <a:r>
              <a:rPr lang="en-US" sz="3700" b="1"/>
              <a:t>Importance of Business Communication Tools (cont’d)</a:t>
            </a:r>
            <a:br>
              <a:rPr lang="en-US" sz="3700" b="1"/>
            </a:br>
            <a:endParaRPr lang="en-US" sz="3700"/>
          </a:p>
        </p:txBody>
      </p:sp>
      <p:pic>
        <p:nvPicPr>
          <p:cNvPr id="6" name="Picture 5">
            <a:extLst>
              <a:ext uri="{FF2B5EF4-FFF2-40B4-BE49-F238E27FC236}">
                <a16:creationId xmlns:a16="http://schemas.microsoft.com/office/drawing/2014/main" id="{EE257D57-87C5-A9DC-ACD1-843FD30D10DE}"/>
              </a:ext>
            </a:extLst>
          </p:cNvPr>
          <p:cNvPicPr>
            <a:picLocks noChangeAspect="1"/>
          </p:cNvPicPr>
          <p:nvPr/>
        </p:nvPicPr>
        <p:blipFill>
          <a:blip r:embed="rId2"/>
          <a:srcRect l="48547" r="14738"/>
          <a:stretch/>
        </p:blipFill>
        <p:spPr>
          <a:xfrm>
            <a:off x="1" y="10"/>
            <a:ext cx="4196496" cy="6857990"/>
          </a:xfrm>
          <a:prstGeom prst="rect">
            <a:avLst/>
          </a:prstGeom>
          <a:effectLst/>
        </p:spPr>
      </p:pic>
      <p:graphicFrame>
        <p:nvGraphicFramePr>
          <p:cNvPr id="5" name="Content Placeholder 2">
            <a:extLst>
              <a:ext uri="{FF2B5EF4-FFF2-40B4-BE49-F238E27FC236}">
                <a16:creationId xmlns:a16="http://schemas.microsoft.com/office/drawing/2014/main" id="{133AAA6F-FCA8-7C8C-27A8-35C0EF332D96}"/>
              </a:ext>
            </a:extLst>
          </p:cNvPr>
          <p:cNvGraphicFramePr>
            <a:graphicFrameLocks noGrp="1"/>
          </p:cNvGraphicFramePr>
          <p:nvPr>
            <p:ph idx="1"/>
            <p:extLst>
              <p:ext uri="{D42A27DB-BD31-4B8C-83A1-F6EECF244321}">
                <p14:modId xmlns:p14="http://schemas.microsoft.com/office/powerpoint/2010/main" val="2760851085"/>
              </p:ext>
            </p:extLst>
          </p:nvPr>
        </p:nvGraphicFramePr>
        <p:xfrm>
          <a:off x="4553734" y="2409830"/>
          <a:ext cx="6798539" cy="37052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42956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F9A2DC-4808-6AEE-B537-E9965B37D4F5}"/>
              </a:ext>
            </a:extLst>
          </p:cNvPr>
          <p:cNvSpPr>
            <a:spLocks noGrp="1"/>
          </p:cNvSpPr>
          <p:nvPr>
            <p:ph type="title"/>
          </p:nvPr>
        </p:nvSpPr>
        <p:spPr>
          <a:xfrm>
            <a:off x="4553733" y="548464"/>
            <a:ext cx="6798541" cy="1675623"/>
          </a:xfrm>
        </p:spPr>
        <p:txBody>
          <a:bodyPr anchor="b">
            <a:normAutofit/>
          </a:bodyPr>
          <a:lstStyle/>
          <a:p>
            <a:r>
              <a:rPr lang="en-US" sz="4000"/>
              <a:t>Key Platforms</a:t>
            </a:r>
          </a:p>
        </p:txBody>
      </p:sp>
      <p:pic>
        <p:nvPicPr>
          <p:cNvPr id="12" name="Picture 11" descr="Person watching empty phone">
            <a:extLst>
              <a:ext uri="{FF2B5EF4-FFF2-40B4-BE49-F238E27FC236}">
                <a16:creationId xmlns:a16="http://schemas.microsoft.com/office/drawing/2014/main" id="{0F036CAB-6AD7-E3DC-7457-94054E953EE2}"/>
              </a:ext>
            </a:extLst>
          </p:cNvPr>
          <p:cNvPicPr>
            <a:picLocks noChangeAspect="1"/>
          </p:cNvPicPr>
          <p:nvPr/>
        </p:nvPicPr>
        <p:blipFill>
          <a:blip r:embed="rId2"/>
          <a:srcRect l="45157" r="13997" b="-1"/>
          <a:stretch/>
        </p:blipFill>
        <p:spPr>
          <a:xfrm>
            <a:off x="1" y="10"/>
            <a:ext cx="4196496" cy="6857990"/>
          </a:xfrm>
          <a:prstGeom prst="rect">
            <a:avLst/>
          </a:prstGeom>
          <a:effectLst/>
        </p:spPr>
      </p:pic>
      <p:sp>
        <p:nvSpPr>
          <p:cNvPr id="3" name="Content Placeholder 2">
            <a:extLst>
              <a:ext uri="{FF2B5EF4-FFF2-40B4-BE49-F238E27FC236}">
                <a16:creationId xmlns:a16="http://schemas.microsoft.com/office/drawing/2014/main" id="{8FF8CE4B-F796-AC86-14C1-0F4439B36C37}"/>
              </a:ext>
            </a:extLst>
          </p:cNvPr>
          <p:cNvSpPr>
            <a:spLocks noGrp="1"/>
          </p:cNvSpPr>
          <p:nvPr>
            <p:ph idx="1"/>
          </p:nvPr>
        </p:nvSpPr>
        <p:spPr>
          <a:xfrm>
            <a:off x="4553734" y="2409830"/>
            <a:ext cx="6798539" cy="3705217"/>
          </a:xfrm>
        </p:spPr>
        <p:txBody>
          <a:bodyPr>
            <a:normAutofit/>
          </a:bodyPr>
          <a:lstStyle/>
          <a:p>
            <a:pPr>
              <a:buFont typeface="Arial" panose="020B0604020202020204" pitchFamily="34" charset="0"/>
              <a:buChar char="•"/>
            </a:pPr>
            <a:r>
              <a:rPr lang="en-US" sz="2000" b="1"/>
              <a:t>Slack:</a:t>
            </a:r>
            <a:r>
              <a:rPr lang="en-US" sz="2000"/>
              <a:t> Real-time messaging, channels, integrations.</a:t>
            </a:r>
          </a:p>
          <a:p>
            <a:pPr>
              <a:buFont typeface="Arial" panose="020B0604020202020204" pitchFamily="34" charset="0"/>
              <a:buChar char="•"/>
            </a:pPr>
            <a:r>
              <a:rPr lang="en-US" sz="2000" b="1"/>
              <a:t>Microsoft Teams:</a:t>
            </a:r>
            <a:r>
              <a:rPr lang="en-US" sz="2000"/>
              <a:t> Chat, video calls, project management features.</a:t>
            </a:r>
          </a:p>
          <a:p>
            <a:pPr>
              <a:buFont typeface="Arial" panose="020B0604020202020204" pitchFamily="34" charset="0"/>
              <a:buChar char="•"/>
            </a:pPr>
            <a:r>
              <a:rPr lang="en-US" sz="2000" b="1"/>
              <a:t>Zoom:</a:t>
            </a:r>
            <a:r>
              <a:rPr lang="en-US" sz="2000"/>
              <a:t> Virtual meetings, webinars, user-friendly interface.</a:t>
            </a:r>
          </a:p>
          <a:p>
            <a:pPr>
              <a:buFont typeface="Arial" panose="020B0604020202020204" pitchFamily="34" charset="0"/>
              <a:buChar char="•"/>
            </a:pPr>
            <a:r>
              <a:rPr lang="en-US" sz="2000" b="1"/>
              <a:t>Asana:</a:t>
            </a:r>
            <a:r>
              <a:rPr lang="en-US" sz="2000"/>
              <a:t> Project management with communication features.</a:t>
            </a:r>
          </a:p>
          <a:p>
            <a:pPr>
              <a:buFont typeface="Arial" panose="020B0604020202020204" pitchFamily="34" charset="0"/>
              <a:buChar char="•"/>
            </a:pPr>
            <a:r>
              <a:rPr lang="en-US" sz="2000" b="1"/>
              <a:t>Trello:</a:t>
            </a:r>
            <a:r>
              <a:rPr lang="en-US" sz="2000"/>
              <a:t> Visual organization, task-focused discussions.</a:t>
            </a:r>
          </a:p>
          <a:p>
            <a:pPr>
              <a:buFont typeface="Arial" panose="020B0604020202020204" pitchFamily="34" charset="0"/>
              <a:buChar char="•"/>
            </a:pPr>
            <a:r>
              <a:rPr lang="en-US" sz="2000" b="1"/>
              <a:t>Google Workspace:</a:t>
            </a:r>
            <a:r>
              <a:rPr lang="en-US" sz="2000"/>
              <a:t> Comprehensive suite of tools for communication.</a:t>
            </a:r>
          </a:p>
          <a:p>
            <a:endParaRPr lang="en-US" sz="2000"/>
          </a:p>
        </p:txBody>
      </p:sp>
    </p:spTree>
    <p:extLst>
      <p:ext uri="{BB962C8B-B14F-4D97-AF65-F5344CB8AC3E}">
        <p14:creationId xmlns:p14="http://schemas.microsoft.com/office/powerpoint/2010/main" val="2496791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33938AA-5FFB-C494-C5B1-8BCBDFA1D76A}"/>
              </a:ext>
            </a:extLst>
          </p:cNvPr>
          <p:cNvSpPr>
            <a:spLocks noGrp="1"/>
          </p:cNvSpPr>
          <p:nvPr>
            <p:ph type="title"/>
          </p:nvPr>
        </p:nvSpPr>
        <p:spPr>
          <a:xfrm>
            <a:off x="621792" y="1161288"/>
            <a:ext cx="3602736" cy="4526280"/>
          </a:xfrm>
        </p:spPr>
        <p:txBody>
          <a:bodyPr>
            <a:normAutofit/>
          </a:bodyPr>
          <a:lstStyle/>
          <a:p>
            <a:r>
              <a:rPr lang="en-US" sz="3700" b="1"/>
              <a:t>Increase in Business Use of Communication Tools</a:t>
            </a:r>
            <a:br>
              <a:rPr lang="en-US" sz="3700" b="1"/>
            </a:br>
            <a:endParaRPr lang="en-US" sz="3700"/>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12" name="Content Placeholder 2">
            <a:extLst>
              <a:ext uri="{FF2B5EF4-FFF2-40B4-BE49-F238E27FC236}">
                <a16:creationId xmlns:a16="http://schemas.microsoft.com/office/drawing/2014/main" id="{4F646BE9-0804-9445-67EC-E1ECCD858EFD}"/>
              </a:ext>
            </a:extLst>
          </p:cNvPr>
          <p:cNvGraphicFramePr>
            <a:graphicFrameLocks noGrp="1"/>
          </p:cNvGraphicFramePr>
          <p:nvPr>
            <p:ph idx="1"/>
            <p:extLst>
              <p:ext uri="{D42A27DB-BD31-4B8C-83A1-F6EECF244321}">
                <p14:modId xmlns:p14="http://schemas.microsoft.com/office/powerpoint/2010/main" val="2936461890"/>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735464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81E1224E-6618-482E-BE87-321A7FC1CD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4CC6F4-82B0-A0DD-EDD5-8FDD384ADF9B}"/>
              </a:ext>
            </a:extLst>
          </p:cNvPr>
          <p:cNvSpPr>
            <a:spLocks noGrp="1"/>
          </p:cNvSpPr>
          <p:nvPr>
            <p:ph type="title"/>
          </p:nvPr>
        </p:nvSpPr>
        <p:spPr>
          <a:xfrm>
            <a:off x="659234" y="957447"/>
            <a:ext cx="3383280" cy="4943105"/>
          </a:xfrm>
        </p:spPr>
        <p:txBody>
          <a:bodyPr anchor="ctr">
            <a:normAutofit/>
          </a:bodyPr>
          <a:lstStyle/>
          <a:p>
            <a:r>
              <a:rPr lang="en-US" sz="4000"/>
              <a:t>Microsoft Teams</a:t>
            </a:r>
          </a:p>
        </p:txBody>
      </p:sp>
      <p:sp>
        <p:nvSpPr>
          <p:cNvPr id="27" name="Rectangle 26">
            <a:extLst>
              <a:ext uri="{FF2B5EF4-FFF2-40B4-BE49-F238E27FC236}">
                <a16:creationId xmlns:a16="http://schemas.microsoft.com/office/drawing/2014/main" id="{066346BE-FDB4-4772-A696-0719490ABD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8126"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Rectangle 28">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9234" y="6163056"/>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43323083-D6E4-4388-9631-0DB0DDBA5409}"/>
              </a:ext>
            </a:extLst>
          </p:cNvPr>
          <p:cNvGraphicFramePr>
            <a:graphicFrameLocks noGrp="1"/>
          </p:cNvGraphicFramePr>
          <p:nvPr>
            <p:ph idx="1"/>
            <p:extLst>
              <p:ext uri="{D42A27DB-BD31-4B8C-83A1-F6EECF244321}">
                <p14:modId xmlns:p14="http://schemas.microsoft.com/office/powerpoint/2010/main" val="4285903205"/>
              </p:ext>
            </p:extLst>
          </p:nvPr>
        </p:nvGraphicFramePr>
        <p:xfrm>
          <a:off x="4549514" y="621792"/>
          <a:ext cx="6807333" cy="55412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60681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26A41C0-1308-D809-CC69-50DDB1551857}"/>
              </a:ext>
            </a:extLst>
          </p:cNvPr>
          <p:cNvSpPr>
            <a:spLocks noGrp="1"/>
          </p:cNvSpPr>
          <p:nvPr>
            <p:ph type="title"/>
          </p:nvPr>
        </p:nvSpPr>
        <p:spPr>
          <a:xfrm>
            <a:off x="621792" y="1161288"/>
            <a:ext cx="3602736" cy="4526280"/>
          </a:xfrm>
        </p:spPr>
        <p:txBody>
          <a:bodyPr>
            <a:normAutofit/>
          </a:bodyPr>
          <a:lstStyle/>
          <a:p>
            <a:r>
              <a:rPr lang="en-US" sz="4000" b="1"/>
              <a:t>Zoom</a:t>
            </a:r>
            <a:br>
              <a:rPr lang="en-US" sz="4000" b="1"/>
            </a:br>
            <a:endParaRPr lang="en-US" sz="4000"/>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AD18B66A-3CBB-FF8E-E0FB-A676ED81E921}"/>
              </a:ext>
            </a:extLst>
          </p:cNvPr>
          <p:cNvGraphicFramePr>
            <a:graphicFrameLocks noGrp="1"/>
          </p:cNvGraphicFramePr>
          <p:nvPr>
            <p:ph idx="1"/>
            <p:extLst>
              <p:ext uri="{D42A27DB-BD31-4B8C-83A1-F6EECF244321}">
                <p14:modId xmlns:p14="http://schemas.microsoft.com/office/powerpoint/2010/main" val="3435621819"/>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904778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8326440-E9F3-FC9F-E7FA-FCBC1606D51B}"/>
              </a:ext>
            </a:extLst>
          </p:cNvPr>
          <p:cNvSpPr>
            <a:spLocks noGrp="1"/>
          </p:cNvSpPr>
          <p:nvPr>
            <p:ph type="title"/>
          </p:nvPr>
        </p:nvSpPr>
        <p:spPr>
          <a:xfrm>
            <a:off x="621792" y="1161288"/>
            <a:ext cx="3602736" cy="4526280"/>
          </a:xfrm>
        </p:spPr>
        <p:txBody>
          <a:bodyPr>
            <a:normAutofit/>
          </a:bodyPr>
          <a:lstStyle/>
          <a:p>
            <a:r>
              <a:rPr lang="en-US" sz="4000" b="1"/>
              <a:t>Cisco Webex</a:t>
            </a:r>
            <a:br>
              <a:rPr lang="en-US" sz="4000" b="1"/>
            </a:br>
            <a:endParaRPr lang="en-US" sz="4000"/>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8D04BC0C-EB6D-8DE6-129D-46E64C0D572F}"/>
              </a:ext>
            </a:extLst>
          </p:cNvPr>
          <p:cNvGraphicFramePr>
            <a:graphicFrameLocks noGrp="1"/>
          </p:cNvGraphicFramePr>
          <p:nvPr>
            <p:ph idx="1"/>
            <p:extLst>
              <p:ext uri="{D42A27DB-BD31-4B8C-83A1-F6EECF244321}">
                <p14:modId xmlns:p14="http://schemas.microsoft.com/office/powerpoint/2010/main" val="490644335"/>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437295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C95F9C3-7EBB-AE45-97D4-58438E0B264C}"/>
              </a:ext>
            </a:extLst>
          </p:cNvPr>
          <p:cNvSpPr>
            <a:spLocks noGrp="1"/>
          </p:cNvSpPr>
          <p:nvPr>
            <p:ph type="title"/>
          </p:nvPr>
        </p:nvSpPr>
        <p:spPr>
          <a:xfrm>
            <a:off x="621792" y="1161288"/>
            <a:ext cx="3602736" cy="4526280"/>
          </a:xfrm>
        </p:spPr>
        <p:txBody>
          <a:bodyPr>
            <a:normAutofit/>
          </a:bodyPr>
          <a:lstStyle/>
          <a:p>
            <a:r>
              <a:rPr lang="en-US" sz="4000" b="1"/>
              <a:t>Google Workspace (formerly G Suite)</a:t>
            </a:r>
            <a:br>
              <a:rPr lang="en-US" sz="4000" b="1"/>
            </a:br>
            <a:endParaRPr lang="en-US" sz="4000"/>
          </a:p>
        </p:txBody>
      </p:sp>
      <p:sp>
        <p:nvSpPr>
          <p:cNvPr id="31" name="Rectangle 30">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2" name="Content Placeholder 2">
            <a:extLst>
              <a:ext uri="{FF2B5EF4-FFF2-40B4-BE49-F238E27FC236}">
                <a16:creationId xmlns:a16="http://schemas.microsoft.com/office/drawing/2014/main" id="{11F8C5A0-DEB6-7B84-CE8C-F34F1ABC8BCF}"/>
              </a:ext>
            </a:extLst>
          </p:cNvPr>
          <p:cNvSpPr>
            <a:spLocks noGrp="1"/>
          </p:cNvSpPr>
          <p:nvPr>
            <p:ph idx="1"/>
          </p:nvPr>
        </p:nvSpPr>
        <p:spPr>
          <a:xfrm>
            <a:off x="5434149" y="932688"/>
            <a:ext cx="5916603" cy="4992624"/>
          </a:xfrm>
        </p:spPr>
        <p:txBody>
          <a:bodyPr anchor="ctr">
            <a:normAutofit/>
          </a:bodyPr>
          <a:lstStyle/>
          <a:p>
            <a:pPr>
              <a:buFont typeface="Arial" panose="020B0604020202020204" pitchFamily="34" charset="0"/>
              <a:buChar char="•"/>
            </a:pPr>
            <a:r>
              <a:rPr lang="en-US" sz="2000" b="1" dirty="0"/>
              <a:t>Market Share:</a:t>
            </a:r>
            <a:r>
              <a:rPr lang="en-US" sz="2000" dirty="0"/>
              <a:t> While specific market share percentages for Google Meet (part of Google Workspace) can fluctuate, Google Workspace as a whole has an estimated share of </a:t>
            </a:r>
            <a:r>
              <a:rPr lang="en-US" sz="2000" b="1" dirty="0"/>
              <a:t>9% to 11%</a:t>
            </a:r>
            <a:r>
              <a:rPr lang="en-US" sz="2000" dirty="0"/>
              <a:t> in the broader collaboration market.</a:t>
            </a:r>
          </a:p>
          <a:p>
            <a:pPr>
              <a:buFont typeface="Arial" panose="020B0604020202020204" pitchFamily="34" charset="0"/>
              <a:buChar char="•"/>
            </a:pPr>
            <a:r>
              <a:rPr lang="en-US" sz="2000" b="1" dirty="0"/>
              <a:t>Revenue:</a:t>
            </a:r>
            <a:r>
              <a:rPr lang="en-US" sz="2000" dirty="0"/>
              <a:t> Google Cloud, which includes Google Workspace products, reported revenues of approximately </a:t>
            </a:r>
            <a:r>
              <a:rPr lang="en-US" sz="2000" b="1" dirty="0"/>
              <a:t>$26 billion</a:t>
            </a:r>
            <a:r>
              <a:rPr lang="en-US" sz="2000" dirty="0"/>
              <a:t> in 2023, with significant contributions from collaboration tools that gained attention during the shift to remote work.</a:t>
            </a:r>
          </a:p>
          <a:p>
            <a:r>
              <a:rPr lang="en-US" sz="2000" dirty="0"/>
              <a:t> </a:t>
            </a:r>
          </a:p>
        </p:txBody>
      </p:sp>
    </p:spTree>
    <p:extLst>
      <p:ext uri="{BB962C8B-B14F-4D97-AF65-F5344CB8AC3E}">
        <p14:creationId xmlns:p14="http://schemas.microsoft.com/office/powerpoint/2010/main" val="18028725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D4B7C-B6A3-6E61-C148-51132DA8EF95}"/>
              </a:ext>
            </a:extLst>
          </p:cNvPr>
          <p:cNvSpPr>
            <a:spLocks noGrp="1"/>
          </p:cNvSpPr>
          <p:nvPr>
            <p:ph type="title"/>
          </p:nvPr>
        </p:nvSpPr>
        <p:spPr/>
        <p:txBody>
          <a:bodyPr/>
          <a:lstStyle/>
          <a:p>
            <a:r>
              <a:rPr lang="en-US" b="1" dirty="0"/>
              <a:t>Other Notable Tools</a:t>
            </a:r>
            <a:br>
              <a:rPr lang="en-US" b="1" dirty="0"/>
            </a:br>
            <a:endParaRPr lang="en-US" dirty="0"/>
          </a:p>
        </p:txBody>
      </p:sp>
      <p:graphicFrame>
        <p:nvGraphicFramePr>
          <p:cNvPr id="5" name="Content Placeholder 2">
            <a:extLst>
              <a:ext uri="{FF2B5EF4-FFF2-40B4-BE49-F238E27FC236}">
                <a16:creationId xmlns:a16="http://schemas.microsoft.com/office/drawing/2014/main" id="{1C8620A9-FA98-3EAC-FF84-198D54E266BA}"/>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880268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396CAF-70AC-C836-88CD-F07D5409A363}"/>
              </a:ext>
            </a:extLst>
          </p:cNvPr>
          <p:cNvSpPr>
            <a:spLocks noGrp="1"/>
          </p:cNvSpPr>
          <p:nvPr>
            <p:ph type="title"/>
          </p:nvPr>
        </p:nvSpPr>
        <p:spPr>
          <a:xfrm>
            <a:off x="4654296" y="329184"/>
            <a:ext cx="6894576" cy="1783080"/>
          </a:xfrm>
        </p:spPr>
        <p:txBody>
          <a:bodyPr anchor="b">
            <a:normAutofit/>
          </a:bodyPr>
          <a:lstStyle/>
          <a:p>
            <a:r>
              <a:rPr lang="en-US" sz="3800" b="1"/>
              <a:t>Trends in Business Communication</a:t>
            </a:r>
            <a:br>
              <a:rPr lang="en-US" sz="3800" b="1"/>
            </a:br>
            <a:endParaRPr lang="en-US" sz="3800"/>
          </a:p>
        </p:txBody>
      </p:sp>
      <p:pic>
        <p:nvPicPr>
          <p:cNvPr id="5" name="Picture 4" descr="Digital financial graph">
            <a:extLst>
              <a:ext uri="{FF2B5EF4-FFF2-40B4-BE49-F238E27FC236}">
                <a16:creationId xmlns:a16="http://schemas.microsoft.com/office/drawing/2014/main" id="{9A748076-819A-C86C-DEF2-A416EFB9DA06}"/>
              </a:ext>
            </a:extLst>
          </p:cNvPr>
          <p:cNvPicPr>
            <a:picLocks noChangeAspect="1"/>
          </p:cNvPicPr>
          <p:nvPr/>
        </p:nvPicPr>
        <p:blipFill>
          <a:blip r:embed="rId2"/>
          <a:srcRect l="41024" r="25737"/>
          <a:stretch/>
        </p:blipFill>
        <p:spPr>
          <a:xfrm>
            <a:off x="20" y="1"/>
            <a:ext cx="4052522" cy="6858000"/>
          </a:xfrm>
          <a:custGeom>
            <a:avLst/>
            <a:gdLst/>
            <a:ahLst/>
            <a:cxnLst/>
            <a:rect l="l" t="t" r="r" b="b"/>
            <a:pathLst>
              <a:path w="4052542" h="6858000">
                <a:moveTo>
                  <a:pt x="0" y="0"/>
                </a:moveTo>
                <a:lnTo>
                  <a:pt x="4020923" y="0"/>
                </a:lnTo>
                <a:lnTo>
                  <a:pt x="4022656" y="14697"/>
                </a:lnTo>
                <a:cubicBezTo>
                  <a:pt x="4037606" y="98462"/>
                  <a:pt x="4035072" y="183369"/>
                  <a:pt x="4039126" y="267642"/>
                </a:cubicBezTo>
                <a:cubicBezTo>
                  <a:pt x="4043941" y="370699"/>
                  <a:pt x="4037860" y="474136"/>
                  <a:pt x="4035579" y="577446"/>
                </a:cubicBezTo>
                <a:cubicBezTo>
                  <a:pt x="4033805" y="665399"/>
                  <a:pt x="4025063" y="753226"/>
                  <a:pt x="4027724" y="841306"/>
                </a:cubicBezTo>
                <a:cubicBezTo>
                  <a:pt x="4027914" y="844352"/>
                  <a:pt x="4027914" y="847398"/>
                  <a:pt x="4027724" y="850444"/>
                </a:cubicBezTo>
                <a:cubicBezTo>
                  <a:pt x="4019615" y="947281"/>
                  <a:pt x="4019615" y="1044626"/>
                  <a:pt x="4027724" y="1141464"/>
                </a:cubicBezTo>
                <a:cubicBezTo>
                  <a:pt x="4030296" y="1181772"/>
                  <a:pt x="4029574" y="1222221"/>
                  <a:pt x="4025570" y="1262415"/>
                </a:cubicBezTo>
                <a:cubicBezTo>
                  <a:pt x="4021769" y="1313563"/>
                  <a:pt x="4009606" y="1365472"/>
                  <a:pt x="4018348" y="1416238"/>
                </a:cubicBezTo>
                <a:cubicBezTo>
                  <a:pt x="4024037" y="1458058"/>
                  <a:pt x="4027166" y="1500194"/>
                  <a:pt x="4027724" y="1542394"/>
                </a:cubicBezTo>
                <a:cubicBezTo>
                  <a:pt x="4032158" y="1636820"/>
                  <a:pt x="4027977" y="1731753"/>
                  <a:pt x="4026330" y="1826433"/>
                </a:cubicBezTo>
                <a:cubicBezTo>
                  <a:pt x="4024556" y="1936724"/>
                  <a:pt x="4027344" y="2047015"/>
                  <a:pt x="4018475" y="2157432"/>
                </a:cubicBezTo>
                <a:cubicBezTo>
                  <a:pt x="4013597" y="2246629"/>
                  <a:pt x="4013597" y="2336029"/>
                  <a:pt x="4018475" y="2425226"/>
                </a:cubicBezTo>
                <a:cubicBezTo>
                  <a:pt x="4020882" y="2506961"/>
                  <a:pt x="4033172" y="2587934"/>
                  <a:pt x="4031145" y="2670557"/>
                </a:cubicBezTo>
                <a:cubicBezTo>
                  <a:pt x="4028737" y="2766886"/>
                  <a:pt x="4017335" y="2862962"/>
                  <a:pt x="4020882" y="2959546"/>
                </a:cubicBezTo>
                <a:cubicBezTo>
                  <a:pt x="4022529" y="3005617"/>
                  <a:pt x="4022656" y="3051688"/>
                  <a:pt x="4023543" y="3097758"/>
                </a:cubicBezTo>
                <a:cubicBezTo>
                  <a:pt x="4024683" y="3153221"/>
                  <a:pt x="4034692" y="3208556"/>
                  <a:pt x="4029117" y="3263892"/>
                </a:cubicBezTo>
                <a:cubicBezTo>
                  <a:pt x="4019869" y="3356161"/>
                  <a:pt x="3995923" y="3446906"/>
                  <a:pt x="4010873" y="3541459"/>
                </a:cubicBezTo>
                <a:cubicBezTo>
                  <a:pt x="4019108" y="3593495"/>
                  <a:pt x="4028357" y="3645658"/>
                  <a:pt x="4033172" y="3698201"/>
                </a:cubicBezTo>
                <a:cubicBezTo>
                  <a:pt x="4037353" y="3745160"/>
                  <a:pt x="4047868" y="3792881"/>
                  <a:pt x="4039886" y="3839586"/>
                </a:cubicBezTo>
                <a:cubicBezTo>
                  <a:pt x="4033045" y="3879565"/>
                  <a:pt x="4036592" y="3919544"/>
                  <a:pt x="4031271" y="3959523"/>
                </a:cubicBezTo>
                <a:cubicBezTo>
                  <a:pt x="4024303" y="4011939"/>
                  <a:pt x="4020629" y="4065244"/>
                  <a:pt x="4015308" y="4118042"/>
                </a:cubicBezTo>
                <a:cubicBezTo>
                  <a:pt x="4010620" y="4165889"/>
                  <a:pt x="4006946" y="4213610"/>
                  <a:pt x="4019615" y="4258539"/>
                </a:cubicBezTo>
                <a:cubicBezTo>
                  <a:pt x="4050656" y="4371622"/>
                  <a:pt x="4033679" y="4484070"/>
                  <a:pt x="4022023" y="4596391"/>
                </a:cubicBezTo>
                <a:cubicBezTo>
                  <a:pt x="4016321" y="4650965"/>
                  <a:pt x="4007959" y="4708712"/>
                  <a:pt x="4020629" y="4758718"/>
                </a:cubicBezTo>
                <a:cubicBezTo>
                  <a:pt x="4043941" y="4847432"/>
                  <a:pt x="4025697" y="4931705"/>
                  <a:pt x="4015561" y="5016866"/>
                </a:cubicBezTo>
                <a:cubicBezTo>
                  <a:pt x="4003335" y="5100174"/>
                  <a:pt x="4005096" y="5184929"/>
                  <a:pt x="4020756" y="5267654"/>
                </a:cubicBezTo>
                <a:cubicBezTo>
                  <a:pt x="4033172" y="5326035"/>
                  <a:pt x="4033172" y="5385432"/>
                  <a:pt x="4034692" y="5444194"/>
                </a:cubicBezTo>
                <a:cubicBezTo>
                  <a:pt x="4035579" y="5481001"/>
                  <a:pt x="4022023" y="5518441"/>
                  <a:pt x="4013027" y="5555120"/>
                </a:cubicBezTo>
                <a:cubicBezTo>
                  <a:pt x="3996937" y="5621371"/>
                  <a:pt x="3991109" y="5688636"/>
                  <a:pt x="4013027" y="5753237"/>
                </a:cubicBezTo>
                <a:cubicBezTo>
                  <a:pt x="4043561" y="5842713"/>
                  <a:pt x="4061045" y="5932189"/>
                  <a:pt x="4048375" y="6026870"/>
                </a:cubicBezTo>
                <a:cubicBezTo>
                  <a:pt x="4041027" y="6085251"/>
                  <a:pt x="4039380" y="6144902"/>
                  <a:pt x="4028357" y="6202522"/>
                </a:cubicBezTo>
                <a:cubicBezTo>
                  <a:pt x="4010240" y="6298091"/>
                  <a:pt x="4016701" y="6393024"/>
                  <a:pt x="4031145" y="6487196"/>
                </a:cubicBezTo>
                <a:cubicBezTo>
                  <a:pt x="4041293" y="6565885"/>
                  <a:pt x="4042395" y="6645474"/>
                  <a:pt x="4034439" y="6724403"/>
                </a:cubicBezTo>
                <a:lnTo>
                  <a:pt x="4025206" y="6858000"/>
                </a:lnTo>
                <a:lnTo>
                  <a:pt x="0" y="6858000"/>
                </a:lnTo>
                <a:close/>
              </a:path>
            </a:pathLst>
          </a:custGeom>
        </p:spPr>
      </p:pic>
      <p:sp>
        <p:nvSpPr>
          <p:cNvPr id="11" name="sketchy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1C30607-EBF2-B479-6975-25F0AE7F9737}"/>
              </a:ext>
            </a:extLst>
          </p:cNvPr>
          <p:cNvSpPr>
            <a:spLocks noGrp="1"/>
          </p:cNvSpPr>
          <p:nvPr>
            <p:ph idx="1"/>
          </p:nvPr>
        </p:nvSpPr>
        <p:spPr>
          <a:xfrm>
            <a:off x="4654296" y="2706624"/>
            <a:ext cx="6894576" cy="3483864"/>
          </a:xfrm>
        </p:spPr>
        <p:txBody>
          <a:bodyPr>
            <a:normAutofit/>
          </a:bodyPr>
          <a:lstStyle/>
          <a:p>
            <a:r>
              <a:rPr lang="en-US" sz="2000"/>
              <a:t>The business communication tools market has been rapidly growing, driven by the increasing need for remote collaboration due to the ongoing transition to hybrid work. Here are some industry trends and projections:</a:t>
            </a:r>
          </a:p>
          <a:p>
            <a:pPr>
              <a:buFont typeface="Arial" panose="020B0604020202020204" pitchFamily="34" charset="0"/>
              <a:buChar char="•"/>
            </a:pPr>
            <a:r>
              <a:rPr lang="en-US" sz="2000"/>
              <a:t>According to various industry reports, the global business communication market is expected to exceed </a:t>
            </a:r>
            <a:r>
              <a:rPr lang="en-US" sz="2000" b="1"/>
              <a:t>$70 billion</a:t>
            </a:r>
            <a:r>
              <a:rPr lang="en-US" sz="2000"/>
              <a:t> by 2025, reflecting a compound annual growth rate (CAGR) of about </a:t>
            </a:r>
            <a:r>
              <a:rPr lang="en-US" sz="2000" b="1"/>
              <a:t>15%</a:t>
            </a:r>
            <a:r>
              <a:rPr lang="en-US" sz="2000"/>
              <a:t>.</a:t>
            </a:r>
          </a:p>
          <a:p>
            <a:pPr>
              <a:buFont typeface="Arial" panose="020B0604020202020204" pitchFamily="34" charset="0"/>
              <a:buChar char="•"/>
            </a:pPr>
            <a:r>
              <a:rPr lang="en-US" sz="2000"/>
              <a:t>The growth of remote work has led businesses to invest significantly in communication and collaboration tools, solidifying their importance in business operations.</a:t>
            </a:r>
          </a:p>
          <a:p>
            <a:endParaRPr lang="en-US" sz="2000"/>
          </a:p>
        </p:txBody>
      </p:sp>
    </p:spTree>
    <p:extLst>
      <p:ext uri="{BB962C8B-B14F-4D97-AF65-F5344CB8AC3E}">
        <p14:creationId xmlns:p14="http://schemas.microsoft.com/office/powerpoint/2010/main" val="42225498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BC7261-6BA6-607B-4646-A0C239B1F326}"/>
              </a:ext>
            </a:extLst>
          </p:cNvPr>
          <p:cNvSpPr>
            <a:spLocks noGrp="1"/>
          </p:cNvSpPr>
          <p:nvPr>
            <p:ph type="title"/>
          </p:nvPr>
        </p:nvSpPr>
        <p:spPr>
          <a:xfrm>
            <a:off x="4654296" y="329184"/>
            <a:ext cx="6894576" cy="1783080"/>
          </a:xfrm>
        </p:spPr>
        <p:txBody>
          <a:bodyPr anchor="b">
            <a:normAutofit/>
          </a:bodyPr>
          <a:lstStyle/>
          <a:p>
            <a:r>
              <a:rPr lang="en-US" sz="5400" b="1"/>
              <a:t>Future Outlook</a:t>
            </a:r>
            <a:br>
              <a:rPr lang="en-US" sz="5400" b="1"/>
            </a:br>
            <a:endParaRPr lang="en-US" sz="5400"/>
          </a:p>
        </p:txBody>
      </p:sp>
      <p:pic>
        <p:nvPicPr>
          <p:cNvPr id="5" name="Picture 4" descr="3D polygons with dots and lines in a white background">
            <a:extLst>
              <a:ext uri="{FF2B5EF4-FFF2-40B4-BE49-F238E27FC236}">
                <a16:creationId xmlns:a16="http://schemas.microsoft.com/office/drawing/2014/main" id="{99558015-1910-7575-28EE-609DCC157210}"/>
              </a:ext>
            </a:extLst>
          </p:cNvPr>
          <p:cNvPicPr>
            <a:picLocks noChangeAspect="1"/>
          </p:cNvPicPr>
          <p:nvPr/>
        </p:nvPicPr>
        <p:blipFill>
          <a:blip r:embed="rId2"/>
          <a:srcRect l="5769" r="57742" b="-1"/>
          <a:stretch/>
        </p:blipFill>
        <p:spPr>
          <a:xfrm>
            <a:off x="20" y="1"/>
            <a:ext cx="4052522" cy="6858000"/>
          </a:xfrm>
          <a:custGeom>
            <a:avLst/>
            <a:gdLst/>
            <a:ahLst/>
            <a:cxnLst/>
            <a:rect l="l" t="t" r="r" b="b"/>
            <a:pathLst>
              <a:path w="4052542" h="6858000">
                <a:moveTo>
                  <a:pt x="0" y="0"/>
                </a:moveTo>
                <a:lnTo>
                  <a:pt x="4020923" y="0"/>
                </a:lnTo>
                <a:lnTo>
                  <a:pt x="4022656" y="14697"/>
                </a:lnTo>
                <a:cubicBezTo>
                  <a:pt x="4037606" y="98462"/>
                  <a:pt x="4035072" y="183369"/>
                  <a:pt x="4039126" y="267642"/>
                </a:cubicBezTo>
                <a:cubicBezTo>
                  <a:pt x="4043941" y="370699"/>
                  <a:pt x="4037860" y="474136"/>
                  <a:pt x="4035579" y="577446"/>
                </a:cubicBezTo>
                <a:cubicBezTo>
                  <a:pt x="4033805" y="665399"/>
                  <a:pt x="4025063" y="753226"/>
                  <a:pt x="4027724" y="841306"/>
                </a:cubicBezTo>
                <a:cubicBezTo>
                  <a:pt x="4027914" y="844352"/>
                  <a:pt x="4027914" y="847398"/>
                  <a:pt x="4027724" y="850444"/>
                </a:cubicBezTo>
                <a:cubicBezTo>
                  <a:pt x="4019615" y="947281"/>
                  <a:pt x="4019615" y="1044626"/>
                  <a:pt x="4027724" y="1141464"/>
                </a:cubicBezTo>
                <a:cubicBezTo>
                  <a:pt x="4030296" y="1181772"/>
                  <a:pt x="4029574" y="1222221"/>
                  <a:pt x="4025570" y="1262415"/>
                </a:cubicBezTo>
                <a:cubicBezTo>
                  <a:pt x="4021769" y="1313563"/>
                  <a:pt x="4009606" y="1365472"/>
                  <a:pt x="4018348" y="1416238"/>
                </a:cubicBezTo>
                <a:cubicBezTo>
                  <a:pt x="4024037" y="1458058"/>
                  <a:pt x="4027166" y="1500194"/>
                  <a:pt x="4027724" y="1542394"/>
                </a:cubicBezTo>
                <a:cubicBezTo>
                  <a:pt x="4032158" y="1636820"/>
                  <a:pt x="4027977" y="1731753"/>
                  <a:pt x="4026330" y="1826433"/>
                </a:cubicBezTo>
                <a:cubicBezTo>
                  <a:pt x="4024556" y="1936724"/>
                  <a:pt x="4027344" y="2047015"/>
                  <a:pt x="4018475" y="2157432"/>
                </a:cubicBezTo>
                <a:cubicBezTo>
                  <a:pt x="4013597" y="2246629"/>
                  <a:pt x="4013597" y="2336029"/>
                  <a:pt x="4018475" y="2425226"/>
                </a:cubicBezTo>
                <a:cubicBezTo>
                  <a:pt x="4020882" y="2506961"/>
                  <a:pt x="4033172" y="2587934"/>
                  <a:pt x="4031145" y="2670557"/>
                </a:cubicBezTo>
                <a:cubicBezTo>
                  <a:pt x="4028737" y="2766886"/>
                  <a:pt x="4017335" y="2862962"/>
                  <a:pt x="4020882" y="2959546"/>
                </a:cubicBezTo>
                <a:cubicBezTo>
                  <a:pt x="4022529" y="3005617"/>
                  <a:pt x="4022656" y="3051688"/>
                  <a:pt x="4023543" y="3097758"/>
                </a:cubicBezTo>
                <a:cubicBezTo>
                  <a:pt x="4024683" y="3153221"/>
                  <a:pt x="4034692" y="3208556"/>
                  <a:pt x="4029117" y="3263892"/>
                </a:cubicBezTo>
                <a:cubicBezTo>
                  <a:pt x="4019869" y="3356161"/>
                  <a:pt x="3995923" y="3446906"/>
                  <a:pt x="4010873" y="3541459"/>
                </a:cubicBezTo>
                <a:cubicBezTo>
                  <a:pt x="4019108" y="3593495"/>
                  <a:pt x="4028357" y="3645658"/>
                  <a:pt x="4033172" y="3698201"/>
                </a:cubicBezTo>
                <a:cubicBezTo>
                  <a:pt x="4037353" y="3745160"/>
                  <a:pt x="4047868" y="3792881"/>
                  <a:pt x="4039886" y="3839586"/>
                </a:cubicBezTo>
                <a:cubicBezTo>
                  <a:pt x="4033045" y="3879565"/>
                  <a:pt x="4036592" y="3919544"/>
                  <a:pt x="4031271" y="3959523"/>
                </a:cubicBezTo>
                <a:cubicBezTo>
                  <a:pt x="4024303" y="4011939"/>
                  <a:pt x="4020629" y="4065244"/>
                  <a:pt x="4015308" y="4118042"/>
                </a:cubicBezTo>
                <a:cubicBezTo>
                  <a:pt x="4010620" y="4165889"/>
                  <a:pt x="4006946" y="4213610"/>
                  <a:pt x="4019615" y="4258539"/>
                </a:cubicBezTo>
                <a:cubicBezTo>
                  <a:pt x="4050656" y="4371622"/>
                  <a:pt x="4033679" y="4484070"/>
                  <a:pt x="4022023" y="4596391"/>
                </a:cubicBezTo>
                <a:cubicBezTo>
                  <a:pt x="4016321" y="4650965"/>
                  <a:pt x="4007959" y="4708712"/>
                  <a:pt x="4020629" y="4758718"/>
                </a:cubicBezTo>
                <a:cubicBezTo>
                  <a:pt x="4043941" y="4847432"/>
                  <a:pt x="4025697" y="4931705"/>
                  <a:pt x="4015561" y="5016866"/>
                </a:cubicBezTo>
                <a:cubicBezTo>
                  <a:pt x="4003335" y="5100174"/>
                  <a:pt x="4005096" y="5184929"/>
                  <a:pt x="4020756" y="5267654"/>
                </a:cubicBezTo>
                <a:cubicBezTo>
                  <a:pt x="4033172" y="5326035"/>
                  <a:pt x="4033172" y="5385432"/>
                  <a:pt x="4034692" y="5444194"/>
                </a:cubicBezTo>
                <a:cubicBezTo>
                  <a:pt x="4035579" y="5481001"/>
                  <a:pt x="4022023" y="5518441"/>
                  <a:pt x="4013027" y="5555120"/>
                </a:cubicBezTo>
                <a:cubicBezTo>
                  <a:pt x="3996937" y="5621371"/>
                  <a:pt x="3991109" y="5688636"/>
                  <a:pt x="4013027" y="5753237"/>
                </a:cubicBezTo>
                <a:cubicBezTo>
                  <a:pt x="4043561" y="5842713"/>
                  <a:pt x="4061045" y="5932189"/>
                  <a:pt x="4048375" y="6026870"/>
                </a:cubicBezTo>
                <a:cubicBezTo>
                  <a:pt x="4041027" y="6085251"/>
                  <a:pt x="4039380" y="6144902"/>
                  <a:pt x="4028357" y="6202522"/>
                </a:cubicBezTo>
                <a:cubicBezTo>
                  <a:pt x="4010240" y="6298091"/>
                  <a:pt x="4016701" y="6393024"/>
                  <a:pt x="4031145" y="6487196"/>
                </a:cubicBezTo>
                <a:cubicBezTo>
                  <a:pt x="4041293" y="6565885"/>
                  <a:pt x="4042395" y="6645474"/>
                  <a:pt x="4034439" y="6724403"/>
                </a:cubicBezTo>
                <a:lnTo>
                  <a:pt x="4025206" y="6858000"/>
                </a:lnTo>
                <a:lnTo>
                  <a:pt x="0" y="6858000"/>
                </a:lnTo>
                <a:close/>
              </a:path>
            </a:pathLst>
          </a:custGeom>
        </p:spPr>
      </p:pic>
      <p:sp>
        <p:nvSpPr>
          <p:cNvPr id="11" name="sketchy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FC00F05-1C91-63E0-28E0-9EF34FF1BA84}"/>
              </a:ext>
            </a:extLst>
          </p:cNvPr>
          <p:cNvSpPr>
            <a:spLocks noGrp="1"/>
          </p:cNvSpPr>
          <p:nvPr>
            <p:ph idx="1"/>
          </p:nvPr>
        </p:nvSpPr>
        <p:spPr>
          <a:xfrm>
            <a:off x="4654296" y="2706624"/>
            <a:ext cx="6894576" cy="3483864"/>
          </a:xfrm>
        </p:spPr>
        <p:txBody>
          <a:bodyPr>
            <a:normAutofit/>
          </a:bodyPr>
          <a:lstStyle/>
          <a:p>
            <a:pPr>
              <a:buFont typeface="Arial" panose="020B0604020202020204" pitchFamily="34" charset="0"/>
              <a:buChar char="•"/>
            </a:pPr>
            <a:r>
              <a:rPr lang="en-US" sz="2200"/>
              <a:t>Continued demand for effective communication tools.</a:t>
            </a:r>
          </a:p>
          <a:p>
            <a:pPr>
              <a:buFont typeface="Arial" panose="020B0604020202020204" pitchFamily="34" charset="0"/>
              <a:buChar char="•"/>
            </a:pPr>
            <a:r>
              <a:rPr lang="en-US" sz="2200"/>
              <a:t>Potential of AI, VR and AR technologies in communication.</a:t>
            </a:r>
          </a:p>
          <a:p>
            <a:pPr>
              <a:buFont typeface="Arial" panose="020B0604020202020204" pitchFamily="34" charset="0"/>
              <a:buChar char="•"/>
            </a:pPr>
            <a:r>
              <a:rPr lang="en-US" sz="2200"/>
              <a:t>Importance of adaptability in a changing landscape.</a:t>
            </a:r>
          </a:p>
          <a:p>
            <a:endParaRPr lang="en-US" sz="2200"/>
          </a:p>
        </p:txBody>
      </p:sp>
    </p:spTree>
    <p:extLst>
      <p:ext uri="{BB962C8B-B14F-4D97-AF65-F5344CB8AC3E}">
        <p14:creationId xmlns:p14="http://schemas.microsoft.com/office/powerpoint/2010/main" val="33390727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AE0DCD-1C90-3FD9-7FBD-31A68659684A}"/>
              </a:ext>
            </a:extLst>
          </p:cNvPr>
          <p:cNvSpPr>
            <a:spLocks noGrp="1"/>
          </p:cNvSpPr>
          <p:nvPr>
            <p:ph type="title"/>
          </p:nvPr>
        </p:nvSpPr>
        <p:spPr>
          <a:xfrm>
            <a:off x="5297762" y="329184"/>
            <a:ext cx="6251110" cy="1783080"/>
          </a:xfrm>
        </p:spPr>
        <p:txBody>
          <a:bodyPr anchor="b">
            <a:normAutofit/>
          </a:bodyPr>
          <a:lstStyle/>
          <a:p>
            <a:r>
              <a:rPr lang="en-US" sz="5400" b="1"/>
              <a:t>Conclusion</a:t>
            </a:r>
            <a:br>
              <a:rPr lang="en-US" sz="5400" b="1"/>
            </a:br>
            <a:endParaRPr lang="en-US" sz="5400"/>
          </a:p>
        </p:txBody>
      </p:sp>
      <p:pic>
        <p:nvPicPr>
          <p:cNvPr id="5" name="Picture 4" descr="Mobile device with apps">
            <a:extLst>
              <a:ext uri="{FF2B5EF4-FFF2-40B4-BE49-F238E27FC236}">
                <a16:creationId xmlns:a16="http://schemas.microsoft.com/office/drawing/2014/main" id="{02544AF7-45AC-C99B-E968-92890C95C4C1}"/>
              </a:ext>
            </a:extLst>
          </p:cNvPr>
          <p:cNvPicPr>
            <a:picLocks noChangeAspect="1"/>
          </p:cNvPicPr>
          <p:nvPr/>
        </p:nvPicPr>
        <p:blipFill>
          <a:blip r:embed="rId2"/>
          <a:srcRect l="50685" r="11115"/>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6D00026-07A3-EB05-8D96-C2EFD8024B42}"/>
              </a:ext>
            </a:extLst>
          </p:cNvPr>
          <p:cNvSpPr>
            <a:spLocks noGrp="1"/>
          </p:cNvSpPr>
          <p:nvPr>
            <p:ph idx="1"/>
          </p:nvPr>
        </p:nvSpPr>
        <p:spPr>
          <a:xfrm>
            <a:off x="5297762" y="2706624"/>
            <a:ext cx="6251110" cy="3483864"/>
          </a:xfrm>
        </p:spPr>
        <p:txBody>
          <a:bodyPr>
            <a:normAutofit/>
          </a:bodyPr>
          <a:lstStyle/>
          <a:p>
            <a:pPr>
              <a:buFont typeface="Arial" panose="020B0604020202020204" pitchFamily="34" charset="0"/>
              <a:buChar char="•"/>
            </a:pPr>
            <a:r>
              <a:rPr lang="en-US" sz="2200"/>
              <a:t>Business communication tools are essential for collaboration and efficiency.</a:t>
            </a:r>
          </a:p>
          <a:p>
            <a:pPr>
              <a:buFont typeface="Arial" panose="020B0604020202020204" pitchFamily="34" charset="0"/>
              <a:buChar char="•"/>
            </a:pPr>
            <a:r>
              <a:rPr lang="en-US" sz="2200"/>
              <a:t>Selection of tools should align with organizational goals.</a:t>
            </a:r>
          </a:p>
          <a:p>
            <a:pPr>
              <a:buFont typeface="Arial" panose="020B0604020202020204" pitchFamily="34" charset="0"/>
              <a:buChar char="•"/>
            </a:pPr>
            <a:r>
              <a:rPr lang="en-US" sz="2200"/>
              <a:t>Investing in communication technologies drives success in the interconnected business world.</a:t>
            </a:r>
          </a:p>
          <a:p>
            <a:endParaRPr lang="en-US" sz="2200"/>
          </a:p>
        </p:txBody>
      </p:sp>
    </p:spTree>
    <p:extLst>
      <p:ext uri="{BB962C8B-B14F-4D97-AF65-F5344CB8AC3E}">
        <p14:creationId xmlns:p14="http://schemas.microsoft.com/office/powerpoint/2010/main" val="24500893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TotalTime>
  <Words>777</Words>
  <Application>Microsoft Office PowerPoint</Application>
  <PresentationFormat>Widescreen</PresentationFormat>
  <Paragraphs>62</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Calibri</vt:lpstr>
      <vt:lpstr>Office Theme</vt:lpstr>
      <vt:lpstr>Business Communication Tools</vt:lpstr>
      <vt:lpstr>Introduction</vt:lpstr>
      <vt:lpstr>Importance of Business Communication Tools </vt:lpstr>
      <vt:lpstr>Importance of Business Communication Tools (cont’d) </vt:lpstr>
      <vt:lpstr>Key Platforms</vt:lpstr>
      <vt:lpstr>Increase in Business Use of Communication Tools </vt:lpstr>
      <vt:lpstr>Microsoft Teams</vt:lpstr>
      <vt:lpstr>Zoom </vt:lpstr>
      <vt:lpstr>Cisco Webex </vt:lpstr>
      <vt:lpstr>Google Workspace (formerly G Suite) </vt:lpstr>
      <vt:lpstr>Other Notable Tools </vt:lpstr>
      <vt:lpstr>Trends in Business Communication </vt:lpstr>
      <vt:lpstr>Future Outlook </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Vasil Hadji Jordanov</dc:creator>
  <cp:lastModifiedBy>Vasil Hadzi-Jordanov</cp:lastModifiedBy>
  <cp:revision>1</cp:revision>
  <dcterms:created xsi:type="dcterms:W3CDTF">2025-02-27T19:00:11Z</dcterms:created>
  <dcterms:modified xsi:type="dcterms:W3CDTF">2025-02-27T20:34:21Z</dcterms:modified>
</cp:coreProperties>
</file>